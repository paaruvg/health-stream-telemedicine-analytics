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Bold" charset="1" panose="00000800000000000000"/>
      <p:regular r:id="rId17"/>
    </p:embeddedFont>
    <p:embeddedFont>
      <p:font typeface="Canva Sans" charset="1" panose="020B0503030501040103"/>
      <p:regular r:id="rId18"/>
    </p:embeddedFont>
    <p:embeddedFont>
      <p:font typeface="Times New Roman" charset="1" panose="02020603050405020304"/>
      <p:regular r:id="rId19"/>
    </p:embeddedFont>
    <p:embeddedFont>
      <p:font typeface="DM Sans" charset="1" panose="00000000000000000000"/>
      <p:regular r:id="rId20"/>
    </p:embeddedFont>
    <p:embeddedFont>
      <p:font typeface="Canva Sans Bold" charset="1" panose="020B0803030501040103"/>
      <p:regular r:id="rId21"/>
    </p:embeddedFont>
    <p:embeddedFont>
      <p:font typeface="Times New Roman Bold" charset="1" panose="020208030705050203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font18.fntdata"/><Relationship Id="rId8" Type="http://schemas.openxmlformats.org/officeDocument/2006/relationships/slide" Target="slides/slide3.xml"/><Relationship Id="rId21" Type="http://schemas.openxmlformats.org/officeDocument/2006/relationships/font" Target="fonts/font21.fntdata"/><Relationship Id="rId3" Type="http://schemas.openxmlformats.org/officeDocument/2006/relationships/viewProps" Target="viewProps.xml"/><Relationship Id="rId12" Type="http://schemas.openxmlformats.org/officeDocument/2006/relationships/slide" Target="slides/slide7.xml"/><Relationship Id="rId17" Type="http://schemas.openxmlformats.org/officeDocument/2006/relationships/font" Target="fonts/font17.fntdata"/><Relationship Id="rId7" Type="http://schemas.openxmlformats.org/officeDocument/2006/relationships/slide" Target="slides/slide2.xml"/><Relationship Id="rId25" Type="http://schemas.openxmlformats.org/officeDocument/2006/relationships/customXml" Target="../customXml/item3.xml"/><Relationship Id="rId16" Type="http://schemas.openxmlformats.org/officeDocument/2006/relationships/slide" Target="slides/slide11.xml"/><Relationship Id="rId2" Type="http://schemas.openxmlformats.org/officeDocument/2006/relationships/presProps" Target="presProps.xml"/><Relationship Id="rId20" Type="http://schemas.openxmlformats.org/officeDocument/2006/relationships/font" Target="fonts/font20.fntdata"/><Relationship Id="rId1" Type="http://schemas.openxmlformats.org/officeDocument/2006/relationships/slideMaster" Target="slideMasters/slideMaster1.xml"/><Relationship Id="rId11" Type="http://schemas.openxmlformats.org/officeDocument/2006/relationships/slide" Target="slides/slide6.xml"/><Relationship Id="rId6" Type="http://schemas.openxmlformats.org/officeDocument/2006/relationships/slide" Target="slides/slide1.xml"/><Relationship Id="rId24" Type="http://schemas.openxmlformats.org/officeDocument/2006/relationships/customXml" Target="../customXml/item2.xml"/><Relationship Id="rId15" Type="http://schemas.openxmlformats.org/officeDocument/2006/relationships/slide" Target="slides/slide10.xml"/><Relationship Id="rId5" Type="http://schemas.openxmlformats.org/officeDocument/2006/relationships/tableStyles" Target="tableStyles.xml"/><Relationship Id="rId23" Type="http://schemas.openxmlformats.org/officeDocument/2006/relationships/customXml" Target="../customXml/item1.xml"/><Relationship Id="rId10" Type="http://schemas.openxmlformats.org/officeDocument/2006/relationships/slide" Target="slides/slide5.xml"/><Relationship Id="rId19" Type="http://schemas.openxmlformats.org/officeDocument/2006/relationships/font" Target="fonts/font19.fntdata"/><Relationship Id="rId14" Type="http://schemas.openxmlformats.org/officeDocument/2006/relationships/slide" Target="slides/slide9.xml"/><Relationship Id="rId22" Type="http://schemas.openxmlformats.org/officeDocument/2006/relationships/font" Target="fonts/font22.fntdata"/><Relationship Id="rId4" Type="http://schemas.openxmlformats.org/officeDocument/2006/relationships/theme" Target="theme/theme1.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2509797" y="905760"/>
            <a:ext cx="2628598" cy="2671969"/>
          </a:xfrm>
          <a:prstGeom prst="line">
            <a:avLst/>
          </a:prstGeom>
          <a:ln cap="flat" w="28575">
            <a:solidFill>
              <a:srgbClr val="8CA9AD"/>
            </a:solidFill>
            <a:prstDash val="solid"/>
            <a:headEnd type="none" len="sm" w="sm"/>
            <a:tailEnd type="none" len="sm" w="sm"/>
          </a:ln>
        </p:spPr>
      </p:sp>
      <p:sp>
        <p:nvSpPr>
          <p:cNvPr name="Freeform 3" id="3"/>
          <p:cNvSpPr/>
          <p:nvPr/>
        </p:nvSpPr>
        <p:spPr>
          <a:xfrm flipH="false" flipV="false" rot="0">
            <a:off x="14744128" y="6172200"/>
            <a:ext cx="3543872" cy="4114800"/>
          </a:xfrm>
          <a:custGeom>
            <a:avLst/>
            <a:gdLst/>
            <a:ahLst/>
            <a:cxnLst/>
            <a:rect r="r" b="b" t="t" l="l"/>
            <a:pathLst>
              <a:path h="4114800" w="3543872">
                <a:moveTo>
                  <a:pt x="0" y="0"/>
                </a:moveTo>
                <a:lnTo>
                  <a:pt x="3543872" y="0"/>
                </a:lnTo>
                <a:lnTo>
                  <a:pt x="354387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87226" y="278767"/>
            <a:ext cx="2457677" cy="2841245"/>
          </a:xfrm>
          <a:custGeom>
            <a:avLst/>
            <a:gdLst/>
            <a:ahLst/>
            <a:cxnLst/>
            <a:rect r="r" b="b" t="t" l="l"/>
            <a:pathLst>
              <a:path h="2841245" w="2457677">
                <a:moveTo>
                  <a:pt x="0" y="0"/>
                </a:moveTo>
                <a:lnTo>
                  <a:pt x="2457677" y="0"/>
                </a:lnTo>
                <a:lnTo>
                  <a:pt x="2457677" y="2841245"/>
                </a:lnTo>
                <a:lnTo>
                  <a:pt x="0" y="28412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214021" y="2777055"/>
            <a:ext cx="12722960" cy="2587624"/>
          </a:xfrm>
          <a:prstGeom prst="rect">
            <a:avLst/>
          </a:prstGeom>
        </p:spPr>
        <p:txBody>
          <a:bodyPr anchor="t" rtlCol="false" tIns="0" lIns="0" bIns="0" rIns="0">
            <a:spAutoFit/>
          </a:bodyPr>
          <a:lstStyle/>
          <a:p>
            <a:pPr algn="ctr">
              <a:lnSpc>
                <a:spcPts val="9999"/>
              </a:lnSpc>
            </a:pPr>
            <a:r>
              <a:rPr lang="en-US" b="true" sz="9999">
                <a:solidFill>
                  <a:srgbClr val="01386A"/>
                </a:solidFill>
                <a:latin typeface="Montserrat Bold"/>
                <a:ea typeface="Montserrat Bold"/>
                <a:cs typeface="Montserrat Bold"/>
                <a:sym typeface="Montserrat Bold"/>
              </a:rPr>
              <a:t>HEALTH STREAM TELEMEDICINE</a:t>
            </a:r>
          </a:p>
        </p:txBody>
      </p:sp>
      <p:sp>
        <p:nvSpPr>
          <p:cNvPr name="Freeform 6" id="6"/>
          <p:cNvSpPr/>
          <p:nvPr/>
        </p:nvSpPr>
        <p:spPr>
          <a:xfrm flipH="false" flipV="false" rot="0">
            <a:off x="118801" y="8986068"/>
            <a:ext cx="9011810" cy="544464"/>
          </a:xfrm>
          <a:custGeom>
            <a:avLst/>
            <a:gdLst/>
            <a:ahLst/>
            <a:cxnLst/>
            <a:rect r="r" b="b" t="t" l="l"/>
            <a:pathLst>
              <a:path h="544464" w="9011810">
                <a:moveTo>
                  <a:pt x="0" y="0"/>
                </a:moveTo>
                <a:lnTo>
                  <a:pt x="9011810" y="0"/>
                </a:lnTo>
                <a:lnTo>
                  <a:pt x="9011810" y="544464"/>
                </a:lnTo>
                <a:lnTo>
                  <a:pt x="0" y="5444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8801" y="278767"/>
            <a:ext cx="5241984" cy="1507070"/>
          </a:xfrm>
          <a:custGeom>
            <a:avLst/>
            <a:gdLst/>
            <a:ahLst/>
            <a:cxnLst/>
            <a:rect r="r" b="b" t="t" l="l"/>
            <a:pathLst>
              <a:path h="1507070" w="5241984">
                <a:moveTo>
                  <a:pt x="0" y="0"/>
                </a:moveTo>
                <a:lnTo>
                  <a:pt x="5241984" y="0"/>
                </a:lnTo>
                <a:lnTo>
                  <a:pt x="5241984" y="1507071"/>
                </a:lnTo>
                <a:lnTo>
                  <a:pt x="0" y="1507071"/>
                </a:lnTo>
                <a:lnTo>
                  <a:pt x="0" y="0"/>
                </a:lnTo>
                <a:close/>
              </a:path>
            </a:pathLst>
          </a:custGeom>
          <a:blipFill>
            <a:blip r:embed="rId8"/>
            <a:stretch>
              <a:fillRect l="0" t="0" r="0" b="0"/>
            </a:stretch>
          </a:blipFill>
        </p:spPr>
      </p:sp>
      <p:sp>
        <p:nvSpPr>
          <p:cNvPr name="TextBox 8" id="8"/>
          <p:cNvSpPr txBox="true"/>
          <p:nvPr/>
        </p:nvSpPr>
        <p:spPr>
          <a:xfrm rot="0">
            <a:off x="3455662" y="5637099"/>
            <a:ext cx="11481319" cy="3105124"/>
          </a:xfrm>
          <a:prstGeom prst="rect">
            <a:avLst/>
          </a:prstGeom>
        </p:spPr>
        <p:txBody>
          <a:bodyPr anchor="t" rtlCol="false" tIns="0" lIns="0" bIns="0" rIns="0">
            <a:spAutoFit/>
          </a:bodyPr>
          <a:lstStyle/>
          <a:p>
            <a:pPr algn="ctr">
              <a:lnSpc>
                <a:spcPts val="4122"/>
              </a:lnSpc>
            </a:pPr>
          </a:p>
          <a:p>
            <a:pPr algn="ctr">
              <a:lnSpc>
                <a:spcPts val="4122"/>
              </a:lnSpc>
            </a:pPr>
            <a:r>
              <a:rPr lang="en-US" sz="3747">
                <a:solidFill>
                  <a:srgbClr val="000000"/>
                </a:solidFill>
                <a:latin typeface="Canva Sans"/>
                <a:ea typeface="Canva Sans"/>
                <a:cs typeface="Canva Sans"/>
                <a:sym typeface="Canva Sans"/>
              </a:rPr>
              <a:t>Parvathy Venugopal- Database Engineer​</a:t>
            </a:r>
          </a:p>
          <a:p>
            <a:pPr algn="ctr">
              <a:lnSpc>
                <a:spcPts val="4122"/>
              </a:lnSpc>
            </a:pPr>
            <a:r>
              <a:rPr lang="en-US" sz="3747">
                <a:solidFill>
                  <a:srgbClr val="000000"/>
                </a:solidFill>
                <a:latin typeface="Canva Sans"/>
                <a:ea typeface="Canva Sans"/>
                <a:cs typeface="Canva Sans"/>
                <a:sym typeface="Canva Sans"/>
              </a:rPr>
              <a:t>Anshu Kumar Gatla- Data Pipeline Engineer​</a:t>
            </a:r>
          </a:p>
          <a:p>
            <a:pPr algn="ctr">
              <a:lnSpc>
                <a:spcPts val="4122"/>
              </a:lnSpc>
            </a:pPr>
            <a:r>
              <a:rPr lang="en-US" sz="3747">
                <a:solidFill>
                  <a:srgbClr val="000000"/>
                </a:solidFill>
                <a:latin typeface="Canva Sans"/>
                <a:ea typeface="Canva Sans"/>
                <a:cs typeface="Canva Sans"/>
                <a:sym typeface="Canva Sans"/>
              </a:rPr>
              <a:t>Nischitha Purushotham- Data Analytics Engineer​</a:t>
            </a:r>
          </a:p>
          <a:p>
            <a:pPr algn="ctr">
              <a:lnSpc>
                <a:spcPts val="4122"/>
              </a:lnSpc>
            </a:pPr>
            <a:r>
              <a:rPr lang="en-US" sz="3747">
                <a:solidFill>
                  <a:srgbClr val="000000"/>
                </a:solidFill>
                <a:latin typeface="Canva Sans"/>
                <a:ea typeface="Canva Sans"/>
                <a:cs typeface="Canva Sans"/>
                <a:sym typeface="Canva Sans"/>
              </a:rPr>
              <a:t>Bhavishya Gottipati- Power BI Engineer</a:t>
            </a:r>
          </a:p>
          <a:p>
            <a:pPr algn="ctr">
              <a:lnSpc>
                <a:spcPts val="412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347863" y="2291938"/>
            <a:ext cx="8743570" cy="5825403"/>
          </a:xfrm>
          <a:custGeom>
            <a:avLst/>
            <a:gdLst/>
            <a:ahLst/>
            <a:cxnLst/>
            <a:rect r="r" b="b" t="t" l="l"/>
            <a:pathLst>
              <a:path h="5825403" w="8743570">
                <a:moveTo>
                  <a:pt x="0" y="0"/>
                </a:moveTo>
                <a:lnTo>
                  <a:pt x="8743570" y="0"/>
                </a:lnTo>
                <a:lnTo>
                  <a:pt x="8743570" y="5825404"/>
                </a:lnTo>
                <a:lnTo>
                  <a:pt x="0" y="5825404"/>
                </a:lnTo>
                <a:lnTo>
                  <a:pt x="0" y="0"/>
                </a:lnTo>
                <a:close/>
              </a:path>
            </a:pathLst>
          </a:custGeom>
          <a:blipFill>
            <a:blip r:embed="rId2"/>
            <a:stretch>
              <a:fillRect l="0" t="0" r="0" b="0"/>
            </a:stretch>
          </a:blipFill>
        </p:spPr>
      </p:sp>
      <p:sp>
        <p:nvSpPr>
          <p:cNvPr name="TextBox 3" id="3"/>
          <p:cNvSpPr txBox="true"/>
          <p:nvPr/>
        </p:nvSpPr>
        <p:spPr>
          <a:xfrm rot="0">
            <a:off x="796395" y="1729786"/>
            <a:ext cx="8818245" cy="730377"/>
          </a:xfrm>
          <a:prstGeom prst="rect">
            <a:avLst/>
          </a:prstGeom>
        </p:spPr>
        <p:txBody>
          <a:bodyPr anchor="t" rtlCol="false" tIns="0" lIns="0" bIns="0" rIns="0">
            <a:spAutoFit/>
          </a:bodyPr>
          <a:lstStyle/>
          <a:p>
            <a:pPr algn="ctr">
              <a:lnSpc>
                <a:spcPts val="5544"/>
              </a:lnSpc>
            </a:pPr>
            <a:r>
              <a:rPr lang="en-US" b="true" sz="5600">
                <a:solidFill>
                  <a:srgbClr val="01386A"/>
                </a:solidFill>
                <a:latin typeface="Montserrat Bold"/>
                <a:ea typeface="Montserrat Bold"/>
                <a:cs typeface="Montserrat Bold"/>
                <a:sym typeface="Montserrat Bold"/>
              </a:rPr>
              <a:t>INTRODUCTION</a:t>
            </a:r>
          </a:p>
        </p:txBody>
      </p:sp>
      <p:sp>
        <p:nvSpPr>
          <p:cNvPr name="TextBox 4" id="4"/>
          <p:cNvSpPr txBox="true"/>
          <p:nvPr/>
        </p:nvSpPr>
        <p:spPr>
          <a:xfrm rot="0">
            <a:off x="913289" y="3488192"/>
            <a:ext cx="8434575" cy="4629150"/>
          </a:xfrm>
          <a:prstGeom prst="rect">
            <a:avLst/>
          </a:prstGeom>
        </p:spPr>
        <p:txBody>
          <a:bodyPr anchor="t" rtlCol="false" tIns="0" lIns="0" bIns="0" rIns="0">
            <a:spAutoFit/>
          </a:bodyPr>
          <a:lstStyle/>
          <a:p>
            <a:pPr algn="l">
              <a:lnSpc>
                <a:spcPts val="3359"/>
              </a:lnSpc>
            </a:pPr>
            <a:r>
              <a:rPr lang="en-US" sz="2799">
                <a:solidFill>
                  <a:srgbClr val="000000"/>
                </a:solidFill>
                <a:latin typeface="Times New Roman"/>
                <a:ea typeface="Times New Roman"/>
                <a:cs typeface="Times New Roman"/>
                <a:sym typeface="Times New Roman"/>
              </a:rPr>
              <a:t>Health Stream Telemedicine Analytics is a healthcare platform that allows patients and doctors to connect online. It helps patients to book appointments, attend consultations, and access medical records. Doctors can manage patient information and provide healthcare services remotely. Administrators monitor system activities and generate healthcare analytics reports. The system brings healthcare services and data management together on a single platform.</a:t>
            </a:r>
          </a:p>
          <a:p>
            <a:pPr algn="l">
              <a:lnSpc>
                <a:spcPts val="3359"/>
              </a:lnSpc>
            </a:pPr>
          </a:p>
          <a:p>
            <a:pPr algn="l">
              <a:lnSpc>
                <a:spcPts val="3359"/>
              </a:lnSpc>
            </a:pPr>
          </a:p>
        </p:txBody>
      </p:sp>
      <p:sp>
        <p:nvSpPr>
          <p:cNvPr name="Freeform 5" id="5"/>
          <p:cNvSpPr/>
          <p:nvPr/>
        </p:nvSpPr>
        <p:spPr>
          <a:xfrm flipH="false" flipV="false" rot="-10800000">
            <a:off x="172822" y="0"/>
            <a:ext cx="2118815" cy="2460163"/>
          </a:xfrm>
          <a:custGeom>
            <a:avLst/>
            <a:gdLst/>
            <a:ahLst/>
            <a:cxnLst/>
            <a:rect r="r" b="b" t="t" l="l"/>
            <a:pathLst>
              <a:path h="2460163" w="2118815">
                <a:moveTo>
                  <a:pt x="0" y="0"/>
                </a:moveTo>
                <a:lnTo>
                  <a:pt x="2118815" y="0"/>
                </a:lnTo>
                <a:lnTo>
                  <a:pt x="2118815" y="2460163"/>
                </a:lnTo>
                <a:lnTo>
                  <a:pt x="0" y="24601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9144000" y="8713836"/>
            <a:ext cx="9011810" cy="544464"/>
          </a:xfrm>
          <a:custGeom>
            <a:avLst/>
            <a:gdLst/>
            <a:ahLst/>
            <a:cxnLst/>
            <a:rect r="r" b="b" t="t" l="l"/>
            <a:pathLst>
              <a:path h="544464" w="9011810">
                <a:moveTo>
                  <a:pt x="0" y="0"/>
                </a:moveTo>
                <a:lnTo>
                  <a:pt x="9011810" y="0"/>
                </a:lnTo>
                <a:lnTo>
                  <a:pt x="9011810" y="544464"/>
                </a:lnTo>
                <a:lnTo>
                  <a:pt x="0" y="5444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343984" y="1143000"/>
            <a:ext cx="8818245" cy="730377"/>
          </a:xfrm>
          <a:prstGeom prst="rect">
            <a:avLst/>
          </a:prstGeom>
        </p:spPr>
        <p:txBody>
          <a:bodyPr anchor="t" rtlCol="false" tIns="0" lIns="0" bIns="0" rIns="0">
            <a:spAutoFit/>
          </a:bodyPr>
          <a:lstStyle/>
          <a:p>
            <a:pPr algn="ctr">
              <a:lnSpc>
                <a:spcPts val="5544"/>
              </a:lnSpc>
            </a:pPr>
            <a:r>
              <a:rPr lang="en-US" b="true" sz="5600">
                <a:solidFill>
                  <a:srgbClr val="01386A"/>
                </a:solidFill>
                <a:latin typeface="Montserrat Bold"/>
                <a:ea typeface="Montserrat Bold"/>
                <a:cs typeface="Montserrat Bold"/>
                <a:sym typeface="Montserrat Bold"/>
              </a:rPr>
              <a:t>PROBLEM STATEMENT</a:t>
            </a:r>
          </a:p>
        </p:txBody>
      </p:sp>
      <p:grpSp>
        <p:nvGrpSpPr>
          <p:cNvPr name="Group 3" id="3"/>
          <p:cNvGrpSpPr/>
          <p:nvPr/>
        </p:nvGrpSpPr>
        <p:grpSpPr>
          <a:xfrm rot="0">
            <a:off x="766592" y="2901375"/>
            <a:ext cx="6688735" cy="830673"/>
            <a:chOff x="0" y="0"/>
            <a:chExt cx="1650703" cy="205000"/>
          </a:xfrm>
        </p:grpSpPr>
        <p:sp>
          <p:nvSpPr>
            <p:cNvPr name="Freeform 4" id="4"/>
            <p:cNvSpPr/>
            <p:nvPr/>
          </p:nvSpPr>
          <p:spPr>
            <a:xfrm flipH="false" flipV="false" rot="0">
              <a:off x="0" y="0"/>
              <a:ext cx="1650704" cy="205000"/>
            </a:xfrm>
            <a:custGeom>
              <a:avLst/>
              <a:gdLst/>
              <a:ahLst/>
              <a:cxnLst/>
              <a:rect r="r" b="b" t="t" l="l"/>
              <a:pathLst>
                <a:path h="205000" w="1650704">
                  <a:moveTo>
                    <a:pt x="59030" y="0"/>
                  </a:moveTo>
                  <a:lnTo>
                    <a:pt x="1591673" y="0"/>
                  </a:lnTo>
                  <a:cubicBezTo>
                    <a:pt x="1607329" y="0"/>
                    <a:pt x="1622344" y="6219"/>
                    <a:pt x="1633414" y="17290"/>
                  </a:cubicBezTo>
                  <a:cubicBezTo>
                    <a:pt x="1644484" y="28360"/>
                    <a:pt x="1650704" y="43374"/>
                    <a:pt x="1650704" y="59030"/>
                  </a:cubicBezTo>
                  <a:lnTo>
                    <a:pt x="1650704" y="145970"/>
                  </a:lnTo>
                  <a:cubicBezTo>
                    <a:pt x="1650704" y="161626"/>
                    <a:pt x="1644484" y="176641"/>
                    <a:pt x="1633414" y="187711"/>
                  </a:cubicBezTo>
                  <a:cubicBezTo>
                    <a:pt x="1622344" y="198781"/>
                    <a:pt x="1607329" y="205000"/>
                    <a:pt x="1591673" y="205000"/>
                  </a:cubicBezTo>
                  <a:lnTo>
                    <a:pt x="59030" y="205000"/>
                  </a:lnTo>
                  <a:cubicBezTo>
                    <a:pt x="43374" y="205000"/>
                    <a:pt x="28360" y="198781"/>
                    <a:pt x="17290" y="187711"/>
                  </a:cubicBezTo>
                  <a:cubicBezTo>
                    <a:pt x="6219" y="176641"/>
                    <a:pt x="0" y="161626"/>
                    <a:pt x="0" y="145970"/>
                  </a:cubicBezTo>
                  <a:lnTo>
                    <a:pt x="0" y="59030"/>
                  </a:lnTo>
                  <a:cubicBezTo>
                    <a:pt x="0" y="43374"/>
                    <a:pt x="6219" y="28360"/>
                    <a:pt x="17290" y="17290"/>
                  </a:cubicBezTo>
                  <a:cubicBezTo>
                    <a:pt x="28360" y="6219"/>
                    <a:pt x="43374" y="0"/>
                    <a:pt x="59030" y="0"/>
                  </a:cubicBezTo>
                  <a:close/>
                </a:path>
              </a:pathLst>
            </a:custGeom>
            <a:solidFill>
              <a:srgbClr val="01386A"/>
            </a:solidFill>
          </p:spPr>
        </p:sp>
        <p:sp>
          <p:nvSpPr>
            <p:cNvPr name="TextBox 5" id="5"/>
            <p:cNvSpPr txBox="true"/>
            <p:nvPr/>
          </p:nvSpPr>
          <p:spPr>
            <a:xfrm>
              <a:off x="0" y="19050"/>
              <a:ext cx="1650703" cy="185950"/>
            </a:xfrm>
            <a:prstGeom prst="rect">
              <a:avLst/>
            </a:prstGeom>
          </p:spPr>
          <p:txBody>
            <a:bodyPr anchor="ctr" rtlCol="false" tIns="50800" lIns="50800" bIns="50800" rIns="50800"/>
            <a:lstStyle/>
            <a:p>
              <a:pPr algn="ctr">
                <a:lnSpc>
                  <a:spcPts val="2553"/>
                </a:lnSpc>
              </a:pPr>
            </a:p>
          </p:txBody>
        </p:sp>
      </p:grpSp>
      <p:grpSp>
        <p:nvGrpSpPr>
          <p:cNvPr name="Group 6" id="6"/>
          <p:cNvGrpSpPr/>
          <p:nvPr/>
        </p:nvGrpSpPr>
        <p:grpSpPr>
          <a:xfrm rot="0">
            <a:off x="9524660" y="2586043"/>
            <a:ext cx="6838711" cy="5593776"/>
            <a:chOff x="0" y="0"/>
            <a:chExt cx="6350000" cy="5194031"/>
          </a:xfrm>
        </p:grpSpPr>
        <p:sp>
          <p:nvSpPr>
            <p:cNvPr name="Freeform 7" id="7"/>
            <p:cNvSpPr/>
            <p:nvPr/>
          </p:nvSpPr>
          <p:spPr>
            <a:xfrm flipH="false" flipV="false" rot="0">
              <a:off x="0" y="0"/>
              <a:ext cx="6351270" cy="5194031"/>
            </a:xfrm>
            <a:custGeom>
              <a:avLst/>
              <a:gdLst/>
              <a:ahLst/>
              <a:cxnLst/>
              <a:rect r="r" b="b" t="t" l="l"/>
              <a:pathLst>
                <a:path h="5194031" w="6351270">
                  <a:moveTo>
                    <a:pt x="5985510" y="0"/>
                  </a:moveTo>
                  <a:lnTo>
                    <a:pt x="364490" y="0"/>
                  </a:lnTo>
                  <a:cubicBezTo>
                    <a:pt x="162560" y="0"/>
                    <a:pt x="0" y="132967"/>
                    <a:pt x="0" y="298137"/>
                  </a:cubicBezTo>
                  <a:lnTo>
                    <a:pt x="0" y="4896932"/>
                  </a:lnTo>
                  <a:cubicBezTo>
                    <a:pt x="0" y="5061064"/>
                    <a:pt x="162560" y="5194031"/>
                    <a:pt x="364490" y="5194031"/>
                  </a:cubicBezTo>
                  <a:lnTo>
                    <a:pt x="5986780" y="5194031"/>
                  </a:lnTo>
                  <a:cubicBezTo>
                    <a:pt x="6187440" y="5194031"/>
                    <a:pt x="6351270" y="5061064"/>
                    <a:pt x="6351270" y="4895893"/>
                  </a:cubicBezTo>
                  <a:lnTo>
                    <a:pt x="6351270" y="298137"/>
                  </a:lnTo>
                  <a:cubicBezTo>
                    <a:pt x="6350000" y="132967"/>
                    <a:pt x="6187440" y="0"/>
                    <a:pt x="5985510" y="0"/>
                  </a:cubicBezTo>
                  <a:close/>
                </a:path>
              </a:pathLst>
            </a:custGeom>
            <a:blipFill>
              <a:blip r:embed="rId2"/>
              <a:stretch>
                <a:fillRect l="-11372" t="0" r="-11372" b="0"/>
              </a:stretch>
            </a:blipFill>
          </p:spPr>
        </p:sp>
      </p:grpSp>
      <p:sp>
        <p:nvSpPr>
          <p:cNvPr name="TextBox 8" id="8"/>
          <p:cNvSpPr txBox="true"/>
          <p:nvPr/>
        </p:nvSpPr>
        <p:spPr>
          <a:xfrm rot="0">
            <a:off x="766592" y="2958525"/>
            <a:ext cx="6688735" cy="787843"/>
          </a:xfrm>
          <a:prstGeom prst="rect">
            <a:avLst/>
          </a:prstGeom>
        </p:spPr>
        <p:txBody>
          <a:bodyPr anchor="t" rtlCol="false" tIns="0" lIns="0" bIns="0" rIns="0">
            <a:spAutoFit/>
          </a:bodyPr>
          <a:lstStyle/>
          <a:p>
            <a:pPr algn="ctr">
              <a:lnSpc>
                <a:spcPts val="3024"/>
              </a:lnSpc>
            </a:pPr>
            <a:r>
              <a:rPr lang="en-US" b="true" sz="3024">
                <a:solidFill>
                  <a:srgbClr val="FFFFFF"/>
                </a:solidFill>
                <a:latin typeface="Montserrat Bold"/>
                <a:ea typeface="Montserrat Bold"/>
                <a:cs typeface="Montserrat Bold"/>
                <a:sym typeface="Montserrat Bold"/>
              </a:rPr>
              <a:t>CHALLENGES IN TRADITIONAL HEALTHCARE SYSTEMS</a:t>
            </a:r>
          </a:p>
        </p:txBody>
      </p:sp>
      <p:sp>
        <p:nvSpPr>
          <p:cNvPr name="TextBox 9" id="9"/>
          <p:cNvSpPr txBox="true"/>
          <p:nvPr/>
        </p:nvSpPr>
        <p:spPr>
          <a:xfrm rot="0">
            <a:off x="1028700" y="3808817"/>
            <a:ext cx="7821311" cy="4147188"/>
          </a:xfrm>
          <a:prstGeom prst="rect">
            <a:avLst/>
          </a:prstGeom>
        </p:spPr>
        <p:txBody>
          <a:bodyPr anchor="t" rtlCol="false" tIns="0" lIns="0" bIns="0" rIns="0">
            <a:spAutoFit/>
          </a:bodyPr>
          <a:lstStyle/>
          <a:p>
            <a:pPr algn="l">
              <a:lnSpc>
                <a:spcPts val="3723"/>
              </a:lnSpc>
            </a:pPr>
          </a:p>
          <a:p>
            <a:pPr algn="l" marL="669907" indent="-334954" lvl="1">
              <a:lnSpc>
                <a:spcPts val="3723"/>
              </a:lnSpc>
              <a:buFont typeface="Arial"/>
              <a:buChar char="•"/>
            </a:pPr>
            <a:r>
              <a:rPr lang="en-US" sz="3102">
                <a:solidFill>
                  <a:srgbClr val="000000"/>
                </a:solidFill>
                <a:latin typeface="DM Sans"/>
                <a:ea typeface="DM Sans"/>
                <a:cs typeface="DM Sans"/>
                <a:sym typeface="DM Sans"/>
              </a:rPr>
              <a:t>Delayed healthcare monitoring</a:t>
            </a:r>
          </a:p>
          <a:p>
            <a:pPr algn="l" marL="669907" indent="-334954" lvl="1">
              <a:lnSpc>
                <a:spcPts val="3723"/>
              </a:lnSpc>
              <a:buFont typeface="Arial"/>
              <a:buChar char="•"/>
            </a:pPr>
            <a:r>
              <a:rPr lang="en-US" sz="3102">
                <a:solidFill>
                  <a:srgbClr val="000000"/>
                </a:solidFill>
                <a:latin typeface="DM Sans"/>
                <a:ea typeface="DM Sans"/>
                <a:cs typeface="DM Sans"/>
                <a:sym typeface="DM Sans"/>
              </a:rPr>
              <a:t>Lack of real-time analytics</a:t>
            </a:r>
          </a:p>
          <a:p>
            <a:pPr algn="l" marL="669907" indent="-334954" lvl="1">
              <a:lnSpc>
                <a:spcPts val="3723"/>
              </a:lnSpc>
              <a:buFont typeface="Arial"/>
              <a:buChar char="•"/>
            </a:pPr>
            <a:r>
              <a:rPr lang="en-US" sz="3102">
                <a:solidFill>
                  <a:srgbClr val="000000"/>
                </a:solidFill>
                <a:latin typeface="DM Sans"/>
                <a:ea typeface="DM Sans"/>
                <a:cs typeface="DM Sans"/>
                <a:sym typeface="DM Sans"/>
              </a:rPr>
              <a:t>Difficulty handling large healthcare datasets</a:t>
            </a:r>
          </a:p>
          <a:p>
            <a:pPr algn="l" marL="669907" indent="-334954" lvl="1">
              <a:lnSpc>
                <a:spcPts val="3723"/>
              </a:lnSpc>
              <a:buFont typeface="Arial"/>
              <a:buChar char="•"/>
            </a:pPr>
            <a:r>
              <a:rPr lang="en-US" sz="3102">
                <a:solidFill>
                  <a:srgbClr val="000000"/>
                </a:solidFill>
                <a:latin typeface="DM Sans"/>
                <a:ea typeface="DM Sans"/>
                <a:cs typeface="DM Sans"/>
                <a:sym typeface="DM Sans"/>
              </a:rPr>
              <a:t>Absence of centralized monitoring systems</a:t>
            </a:r>
          </a:p>
          <a:p>
            <a:pPr algn="l" marL="669907" indent="-334954" lvl="1">
              <a:lnSpc>
                <a:spcPts val="3723"/>
              </a:lnSpc>
              <a:buFont typeface="Arial"/>
              <a:buChar char="•"/>
            </a:pPr>
            <a:r>
              <a:rPr lang="en-US" sz="3102">
                <a:solidFill>
                  <a:srgbClr val="000000"/>
                </a:solidFill>
                <a:latin typeface="DM Sans"/>
                <a:ea typeface="DM Sans"/>
                <a:cs typeface="DM Sans"/>
                <a:sym typeface="DM Sans"/>
              </a:rPr>
              <a:t>Inefficient healthcare data processing</a:t>
            </a:r>
          </a:p>
          <a:p>
            <a:pPr algn="l">
              <a:lnSpc>
                <a:spcPts val="3723"/>
              </a:lnSpc>
            </a:pPr>
          </a:p>
        </p:txBody>
      </p:sp>
      <p:sp>
        <p:nvSpPr>
          <p:cNvPr name="Freeform 10" id="10"/>
          <p:cNvSpPr/>
          <p:nvPr/>
        </p:nvSpPr>
        <p:spPr>
          <a:xfrm flipH="false" flipV="false" rot="5400000">
            <a:off x="14177486" y="-4286"/>
            <a:ext cx="4106228" cy="4114800"/>
          </a:xfrm>
          <a:custGeom>
            <a:avLst/>
            <a:gdLst/>
            <a:ahLst/>
            <a:cxnLst/>
            <a:rect r="r" b="b" t="t" l="l"/>
            <a:pathLst>
              <a:path h="4114800" w="4106228">
                <a:moveTo>
                  <a:pt x="0" y="0"/>
                </a:moveTo>
                <a:lnTo>
                  <a:pt x="4106228" y="0"/>
                </a:lnTo>
                <a:lnTo>
                  <a:pt x="41062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10800000">
            <a:off x="13640680" y="5262870"/>
            <a:ext cx="4647320" cy="5024130"/>
          </a:xfrm>
          <a:custGeom>
            <a:avLst/>
            <a:gdLst/>
            <a:ahLst/>
            <a:cxnLst/>
            <a:rect r="r" b="b" t="t" l="l"/>
            <a:pathLst>
              <a:path h="5024130" w="4647320">
                <a:moveTo>
                  <a:pt x="0" y="0"/>
                </a:moveTo>
                <a:lnTo>
                  <a:pt x="4647320" y="0"/>
                </a:lnTo>
                <a:lnTo>
                  <a:pt x="4647320" y="5024130"/>
                </a:lnTo>
                <a:lnTo>
                  <a:pt x="0" y="50241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292805" y="-2024657"/>
            <a:ext cx="4347674" cy="4347674"/>
          </a:xfrm>
          <a:prstGeom prst="line">
            <a:avLst/>
          </a:prstGeom>
          <a:ln cap="flat" w="28575">
            <a:solidFill>
              <a:srgbClr val="8CA9AD"/>
            </a:solidFill>
            <a:prstDash val="solid"/>
            <a:headEnd type="none" len="sm" w="sm"/>
            <a:tailEnd type="none" len="sm" w="sm"/>
          </a:ln>
        </p:spPr>
      </p:sp>
      <p:sp>
        <p:nvSpPr>
          <p:cNvPr name="TextBox 3" id="3"/>
          <p:cNvSpPr txBox="true"/>
          <p:nvPr/>
        </p:nvSpPr>
        <p:spPr>
          <a:xfrm rot="0">
            <a:off x="1898788" y="1262020"/>
            <a:ext cx="9616724" cy="1425702"/>
          </a:xfrm>
          <a:prstGeom prst="rect">
            <a:avLst/>
          </a:prstGeom>
        </p:spPr>
        <p:txBody>
          <a:bodyPr anchor="t" rtlCol="false" tIns="0" lIns="0" bIns="0" rIns="0">
            <a:spAutoFit/>
          </a:bodyPr>
          <a:lstStyle/>
          <a:p>
            <a:pPr algn="l">
              <a:lnSpc>
                <a:spcPts val="5544"/>
              </a:lnSpc>
            </a:pPr>
            <a:r>
              <a:rPr lang="en-US" b="true" sz="5600">
                <a:solidFill>
                  <a:srgbClr val="01386A"/>
                </a:solidFill>
                <a:latin typeface="Montserrat Bold"/>
                <a:ea typeface="Montserrat Bold"/>
                <a:cs typeface="Montserrat Bold"/>
                <a:sym typeface="Montserrat Bold"/>
              </a:rPr>
              <a:t>PROJECT OVERVIEW &amp; OBJECTIVES</a:t>
            </a:r>
          </a:p>
        </p:txBody>
      </p:sp>
      <p:sp>
        <p:nvSpPr>
          <p:cNvPr name="TextBox 4" id="4"/>
          <p:cNvSpPr txBox="true"/>
          <p:nvPr/>
        </p:nvSpPr>
        <p:spPr>
          <a:xfrm rot="0">
            <a:off x="9639658" y="2687722"/>
            <a:ext cx="7619642" cy="2895600"/>
          </a:xfrm>
          <a:prstGeom prst="rect">
            <a:avLst/>
          </a:prstGeom>
        </p:spPr>
        <p:txBody>
          <a:bodyPr anchor="t" rtlCol="false" tIns="0" lIns="0" bIns="0" rIns="0">
            <a:spAutoFit/>
          </a:bodyPr>
          <a:lstStyle/>
          <a:p>
            <a:pPr algn="l" marL="518160" indent="-259080" lvl="1">
              <a:lnSpc>
                <a:spcPts val="2879"/>
              </a:lnSpc>
              <a:buFont typeface="Arial"/>
              <a:buChar char="•"/>
            </a:pPr>
            <a:r>
              <a:rPr lang="en-US" sz="2400">
                <a:solidFill>
                  <a:srgbClr val="000000"/>
                </a:solidFill>
                <a:latin typeface="DM Sans"/>
                <a:ea typeface="DM Sans"/>
                <a:cs typeface="DM Sans"/>
                <a:sym typeface="DM Sans"/>
              </a:rPr>
              <a:t>Health Stream Telemedicine focuses on real-time healthcare data processing.</a:t>
            </a:r>
          </a:p>
          <a:p>
            <a:pPr algn="l" marL="518160" indent="-259080" lvl="1">
              <a:lnSpc>
                <a:spcPts val="2879"/>
              </a:lnSpc>
              <a:buFont typeface="Arial"/>
              <a:buChar char="•"/>
            </a:pPr>
            <a:r>
              <a:rPr lang="en-US" sz="2400">
                <a:solidFill>
                  <a:srgbClr val="000000"/>
                </a:solidFill>
                <a:latin typeface="DM Sans"/>
                <a:ea typeface="DM Sans"/>
                <a:cs typeface="DM Sans"/>
                <a:sym typeface="DM Sans"/>
              </a:rPr>
              <a:t>Simulates continuous patient health monitoring.</a:t>
            </a:r>
          </a:p>
          <a:p>
            <a:pPr algn="l" marL="518160" indent="-259080" lvl="1">
              <a:lnSpc>
                <a:spcPts val="2879"/>
              </a:lnSpc>
              <a:buFont typeface="Arial"/>
              <a:buChar char="•"/>
            </a:pPr>
            <a:r>
              <a:rPr lang="en-US" sz="2400">
                <a:solidFill>
                  <a:srgbClr val="000000"/>
                </a:solidFill>
                <a:latin typeface="DM Sans"/>
                <a:ea typeface="DM Sans"/>
                <a:cs typeface="DM Sans"/>
                <a:sym typeface="DM Sans"/>
              </a:rPr>
              <a:t>Uses data engineering tools for streaming, processing, storage, and visualization.</a:t>
            </a:r>
          </a:p>
          <a:p>
            <a:pPr algn="l" marL="518160" indent="-259080" lvl="1">
              <a:lnSpc>
                <a:spcPts val="2879"/>
              </a:lnSpc>
              <a:buFont typeface="Arial"/>
              <a:buChar char="•"/>
            </a:pPr>
            <a:r>
              <a:rPr lang="en-US" sz="2400">
                <a:solidFill>
                  <a:srgbClr val="000000"/>
                </a:solidFill>
                <a:latin typeface="DM Sans"/>
                <a:ea typeface="DM Sans"/>
                <a:cs typeface="DM Sans"/>
                <a:sym typeface="DM Sans"/>
              </a:rPr>
              <a:t>Goal: Build an end-to-end healthcare streaming pipeline.</a:t>
            </a:r>
          </a:p>
          <a:p>
            <a:pPr algn="l">
              <a:lnSpc>
                <a:spcPts val="2879"/>
              </a:lnSpc>
            </a:pPr>
          </a:p>
        </p:txBody>
      </p:sp>
      <p:grpSp>
        <p:nvGrpSpPr>
          <p:cNvPr name="Group 5" id="5"/>
          <p:cNvGrpSpPr/>
          <p:nvPr/>
        </p:nvGrpSpPr>
        <p:grpSpPr>
          <a:xfrm rot="0">
            <a:off x="-1473062" y="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99D45"/>
            </a:solidFill>
          </p:spPr>
        </p:sp>
        <p:sp>
          <p:nvSpPr>
            <p:cNvPr name="TextBox 7" id="7"/>
            <p:cNvSpPr txBox="true"/>
            <p:nvPr/>
          </p:nvSpPr>
          <p:spPr>
            <a:xfrm>
              <a:off x="0" y="38100"/>
              <a:ext cx="812800" cy="774700"/>
            </a:xfrm>
            <a:prstGeom prst="rect">
              <a:avLst/>
            </a:prstGeom>
          </p:spPr>
          <p:txBody>
            <a:bodyPr anchor="ctr" rtlCol="false" tIns="50800" lIns="50800" bIns="50800" rIns="50800"/>
            <a:lstStyle/>
            <a:p>
              <a:pPr algn="ctr">
                <a:lnSpc>
                  <a:spcPts val="2100"/>
                </a:lnSpc>
              </a:pPr>
            </a:p>
          </p:txBody>
        </p:sp>
      </p:grpSp>
      <p:grpSp>
        <p:nvGrpSpPr>
          <p:cNvPr name="Group 8" id="8"/>
          <p:cNvGrpSpPr/>
          <p:nvPr/>
        </p:nvGrpSpPr>
        <p:grpSpPr>
          <a:xfrm rot="0">
            <a:off x="14819721" y="8743950"/>
            <a:ext cx="3468279" cy="3086100"/>
            <a:chOff x="0" y="0"/>
            <a:chExt cx="913456" cy="812800"/>
          </a:xfrm>
        </p:grpSpPr>
        <p:sp>
          <p:nvSpPr>
            <p:cNvPr name="Freeform 9" id="9"/>
            <p:cNvSpPr/>
            <p:nvPr/>
          </p:nvSpPr>
          <p:spPr>
            <a:xfrm flipH="false" flipV="false" rot="0">
              <a:off x="0" y="0"/>
              <a:ext cx="913456" cy="812800"/>
            </a:xfrm>
            <a:custGeom>
              <a:avLst/>
              <a:gdLst/>
              <a:ahLst/>
              <a:cxnLst/>
              <a:rect r="r" b="b" t="t" l="l"/>
              <a:pathLst>
                <a:path h="812800" w="913456">
                  <a:moveTo>
                    <a:pt x="0" y="0"/>
                  </a:moveTo>
                  <a:lnTo>
                    <a:pt x="913456" y="0"/>
                  </a:lnTo>
                  <a:lnTo>
                    <a:pt x="913456" y="812800"/>
                  </a:lnTo>
                  <a:lnTo>
                    <a:pt x="0" y="812800"/>
                  </a:lnTo>
                  <a:close/>
                </a:path>
              </a:pathLst>
            </a:custGeom>
            <a:solidFill>
              <a:srgbClr val="F99D45"/>
            </a:solidFill>
          </p:spPr>
        </p:sp>
        <p:sp>
          <p:nvSpPr>
            <p:cNvPr name="TextBox 10" id="10"/>
            <p:cNvSpPr txBox="true"/>
            <p:nvPr/>
          </p:nvSpPr>
          <p:spPr>
            <a:xfrm>
              <a:off x="0" y="38100"/>
              <a:ext cx="913456" cy="774700"/>
            </a:xfrm>
            <a:prstGeom prst="rect">
              <a:avLst/>
            </a:prstGeom>
          </p:spPr>
          <p:txBody>
            <a:bodyPr anchor="ctr" rtlCol="false" tIns="50800" lIns="50800" bIns="50800" rIns="50800"/>
            <a:lstStyle/>
            <a:p>
              <a:pPr algn="ctr">
                <a:lnSpc>
                  <a:spcPts val="2100"/>
                </a:lnSpc>
              </a:pPr>
            </a:p>
          </p:txBody>
        </p:sp>
      </p:grpSp>
      <p:grpSp>
        <p:nvGrpSpPr>
          <p:cNvPr name="Group 11" id="11"/>
          <p:cNvGrpSpPr/>
          <p:nvPr/>
        </p:nvGrpSpPr>
        <p:grpSpPr>
          <a:xfrm rot="0">
            <a:off x="13449479" y="9138792"/>
            <a:ext cx="3468279" cy="3086100"/>
            <a:chOff x="0" y="0"/>
            <a:chExt cx="913456" cy="812800"/>
          </a:xfrm>
        </p:grpSpPr>
        <p:sp>
          <p:nvSpPr>
            <p:cNvPr name="Freeform 12" id="12"/>
            <p:cNvSpPr/>
            <p:nvPr/>
          </p:nvSpPr>
          <p:spPr>
            <a:xfrm flipH="false" flipV="false" rot="0">
              <a:off x="0" y="0"/>
              <a:ext cx="913456" cy="812800"/>
            </a:xfrm>
            <a:custGeom>
              <a:avLst/>
              <a:gdLst/>
              <a:ahLst/>
              <a:cxnLst/>
              <a:rect r="r" b="b" t="t" l="l"/>
              <a:pathLst>
                <a:path h="812800" w="913456">
                  <a:moveTo>
                    <a:pt x="0" y="0"/>
                  </a:moveTo>
                  <a:lnTo>
                    <a:pt x="913456" y="0"/>
                  </a:lnTo>
                  <a:lnTo>
                    <a:pt x="913456" y="812800"/>
                  </a:lnTo>
                  <a:lnTo>
                    <a:pt x="0" y="812800"/>
                  </a:lnTo>
                  <a:close/>
                </a:path>
              </a:pathLst>
            </a:custGeom>
            <a:solidFill>
              <a:srgbClr val="F9D845"/>
            </a:solidFill>
          </p:spPr>
        </p:sp>
        <p:sp>
          <p:nvSpPr>
            <p:cNvPr name="TextBox 13" id="13"/>
            <p:cNvSpPr txBox="true"/>
            <p:nvPr/>
          </p:nvSpPr>
          <p:spPr>
            <a:xfrm>
              <a:off x="0" y="38100"/>
              <a:ext cx="913456" cy="774700"/>
            </a:xfrm>
            <a:prstGeom prst="rect">
              <a:avLst/>
            </a:prstGeom>
          </p:spPr>
          <p:txBody>
            <a:bodyPr anchor="ctr" rtlCol="false" tIns="50800" lIns="50800" bIns="50800" rIns="50800"/>
            <a:lstStyle/>
            <a:p>
              <a:pPr algn="ctr">
                <a:lnSpc>
                  <a:spcPts val="2100"/>
                </a:lnSpc>
              </a:pPr>
            </a:p>
          </p:txBody>
        </p:sp>
      </p:grpSp>
      <p:grpSp>
        <p:nvGrpSpPr>
          <p:cNvPr name="Group 14" id="14"/>
          <p:cNvGrpSpPr/>
          <p:nvPr/>
        </p:nvGrpSpPr>
        <p:grpSpPr>
          <a:xfrm rot="0">
            <a:off x="9581083" y="5497325"/>
            <a:ext cx="4198166" cy="830673"/>
            <a:chOff x="0" y="0"/>
            <a:chExt cx="1036059" cy="205000"/>
          </a:xfrm>
        </p:grpSpPr>
        <p:sp>
          <p:nvSpPr>
            <p:cNvPr name="Freeform 15" id="15"/>
            <p:cNvSpPr/>
            <p:nvPr/>
          </p:nvSpPr>
          <p:spPr>
            <a:xfrm flipH="false" flipV="false" rot="0">
              <a:off x="0" y="0"/>
              <a:ext cx="1036060" cy="205000"/>
            </a:xfrm>
            <a:custGeom>
              <a:avLst/>
              <a:gdLst/>
              <a:ahLst/>
              <a:cxnLst/>
              <a:rect r="r" b="b" t="t" l="l"/>
              <a:pathLst>
                <a:path h="205000" w="1036060">
                  <a:moveTo>
                    <a:pt x="94050" y="0"/>
                  </a:moveTo>
                  <a:lnTo>
                    <a:pt x="942009" y="0"/>
                  </a:lnTo>
                  <a:cubicBezTo>
                    <a:pt x="966953" y="0"/>
                    <a:pt x="990875" y="9909"/>
                    <a:pt x="1008513" y="27547"/>
                  </a:cubicBezTo>
                  <a:cubicBezTo>
                    <a:pt x="1026151" y="45184"/>
                    <a:pt x="1036060" y="69106"/>
                    <a:pt x="1036060" y="94050"/>
                  </a:cubicBezTo>
                  <a:lnTo>
                    <a:pt x="1036060" y="110950"/>
                  </a:lnTo>
                  <a:cubicBezTo>
                    <a:pt x="1036060" y="135894"/>
                    <a:pt x="1026151" y="159816"/>
                    <a:pt x="1008513" y="177454"/>
                  </a:cubicBezTo>
                  <a:cubicBezTo>
                    <a:pt x="990875" y="195092"/>
                    <a:pt x="966953" y="205000"/>
                    <a:pt x="942009" y="205000"/>
                  </a:cubicBezTo>
                  <a:lnTo>
                    <a:pt x="94050" y="205000"/>
                  </a:lnTo>
                  <a:cubicBezTo>
                    <a:pt x="69106" y="205000"/>
                    <a:pt x="45184" y="195092"/>
                    <a:pt x="27547" y="177454"/>
                  </a:cubicBezTo>
                  <a:cubicBezTo>
                    <a:pt x="9909" y="159816"/>
                    <a:pt x="0" y="135894"/>
                    <a:pt x="0" y="110950"/>
                  </a:cubicBezTo>
                  <a:lnTo>
                    <a:pt x="0" y="94050"/>
                  </a:lnTo>
                  <a:cubicBezTo>
                    <a:pt x="0" y="69106"/>
                    <a:pt x="9909" y="45184"/>
                    <a:pt x="27547" y="27547"/>
                  </a:cubicBezTo>
                  <a:cubicBezTo>
                    <a:pt x="45184" y="9909"/>
                    <a:pt x="69106" y="0"/>
                    <a:pt x="94050" y="0"/>
                  </a:cubicBezTo>
                  <a:close/>
                </a:path>
              </a:pathLst>
            </a:custGeom>
            <a:solidFill>
              <a:srgbClr val="01386A"/>
            </a:solidFill>
          </p:spPr>
        </p:sp>
        <p:sp>
          <p:nvSpPr>
            <p:cNvPr name="TextBox 16" id="16"/>
            <p:cNvSpPr txBox="true"/>
            <p:nvPr/>
          </p:nvSpPr>
          <p:spPr>
            <a:xfrm>
              <a:off x="0" y="19050"/>
              <a:ext cx="1036059" cy="185950"/>
            </a:xfrm>
            <a:prstGeom prst="rect">
              <a:avLst/>
            </a:prstGeom>
          </p:spPr>
          <p:txBody>
            <a:bodyPr anchor="ctr" rtlCol="false" tIns="50800" lIns="50800" bIns="50800" rIns="50800"/>
            <a:lstStyle/>
            <a:p>
              <a:pPr algn="ctr">
                <a:lnSpc>
                  <a:spcPts val="2553"/>
                </a:lnSpc>
              </a:pPr>
            </a:p>
          </p:txBody>
        </p:sp>
      </p:grpSp>
      <p:sp>
        <p:nvSpPr>
          <p:cNvPr name="Freeform 17" id="17"/>
          <p:cNvSpPr/>
          <p:nvPr/>
        </p:nvSpPr>
        <p:spPr>
          <a:xfrm flipH="false" flipV="false" rot="0">
            <a:off x="675589" y="3432897"/>
            <a:ext cx="8743570" cy="5825403"/>
          </a:xfrm>
          <a:custGeom>
            <a:avLst/>
            <a:gdLst/>
            <a:ahLst/>
            <a:cxnLst/>
            <a:rect r="r" b="b" t="t" l="l"/>
            <a:pathLst>
              <a:path h="5825403" w="8743570">
                <a:moveTo>
                  <a:pt x="0" y="0"/>
                </a:moveTo>
                <a:lnTo>
                  <a:pt x="8743569" y="0"/>
                </a:lnTo>
                <a:lnTo>
                  <a:pt x="8743569" y="5825403"/>
                </a:lnTo>
                <a:lnTo>
                  <a:pt x="0" y="5825403"/>
                </a:lnTo>
                <a:lnTo>
                  <a:pt x="0" y="0"/>
                </a:lnTo>
                <a:close/>
              </a:path>
            </a:pathLst>
          </a:custGeom>
          <a:blipFill>
            <a:blip r:embed="rId2"/>
            <a:stretch>
              <a:fillRect l="0" t="0" r="0" b="0"/>
            </a:stretch>
          </a:blipFill>
        </p:spPr>
      </p:sp>
      <p:sp>
        <p:nvSpPr>
          <p:cNvPr name="TextBox 18" id="18"/>
          <p:cNvSpPr txBox="true"/>
          <p:nvPr/>
        </p:nvSpPr>
        <p:spPr>
          <a:xfrm rot="0">
            <a:off x="9639658" y="6756258"/>
            <a:ext cx="8817170" cy="1987692"/>
          </a:xfrm>
          <a:prstGeom prst="rect">
            <a:avLst/>
          </a:prstGeom>
        </p:spPr>
        <p:txBody>
          <a:bodyPr anchor="t" rtlCol="false" tIns="0" lIns="0" bIns="0" rIns="0">
            <a:spAutoFit/>
          </a:bodyPr>
          <a:lstStyle/>
          <a:p>
            <a:pPr algn="l" marL="560682" indent="-280341" lvl="1">
              <a:lnSpc>
                <a:spcPts val="2596"/>
              </a:lnSpc>
              <a:buFont typeface="Arial"/>
              <a:buChar char="•"/>
            </a:pPr>
            <a:r>
              <a:rPr lang="en-US" sz="2596">
                <a:solidFill>
                  <a:srgbClr val="000000"/>
                </a:solidFill>
                <a:latin typeface="DM Sans"/>
                <a:ea typeface="DM Sans"/>
                <a:cs typeface="DM Sans"/>
                <a:sym typeface="DM Sans"/>
              </a:rPr>
              <a:t>Collect and process healthcare data</a:t>
            </a:r>
          </a:p>
          <a:p>
            <a:pPr algn="l" marL="560682" indent="-280341" lvl="1">
              <a:lnSpc>
                <a:spcPts val="2596"/>
              </a:lnSpc>
              <a:buFont typeface="Arial"/>
              <a:buChar char="•"/>
            </a:pPr>
            <a:r>
              <a:rPr lang="en-US" sz="2596">
                <a:solidFill>
                  <a:srgbClr val="000000"/>
                </a:solidFill>
                <a:latin typeface="DM Sans"/>
                <a:ea typeface="DM Sans"/>
                <a:cs typeface="DM Sans"/>
                <a:sym typeface="DM Sans"/>
              </a:rPr>
              <a:t>Stream data in real time using Apache Kafka</a:t>
            </a:r>
          </a:p>
          <a:p>
            <a:pPr algn="l" marL="560682" indent="-280341" lvl="1">
              <a:lnSpc>
                <a:spcPts val="2596"/>
              </a:lnSpc>
              <a:buFont typeface="Arial"/>
              <a:buChar char="•"/>
            </a:pPr>
            <a:r>
              <a:rPr lang="en-US" sz="2596">
                <a:solidFill>
                  <a:srgbClr val="000000"/>
                </a:solidFill>
                <a:latin typeface="DM Sans"/>
                <a:ea typeface="DM Sans"/>
                <a:cs typeface="DM Sans"/>
                <a:sym typeface="DM Sans"/>
              </a:rPr>
              <a:t>Store healthcare records in SQL Server</a:t>
            </a:r>
          </a:p>
          <a:p>
            <a:pPr algn="l" marL="560682" indent="-280341" lvl="1">
              <a:lnSpc>
                <a:spcPts val="2596"/>
              </a:lnSpc>
              <a:buFont typeface="Arial"/>
              <a:buChar char="•"/>
            </a:pPr>
            <a:r>
              <a:rPr lang="en-US" sz="2596">
                <a:solidFill>
                  <a:srgbClr val="000000"/>
                </a:solidFill>
                <a:latin typeface="DM Sans"/>
                <a:ea typeface="DM Sans"/>
                <a:cs typeface="DM Sans"/>
                <a:sym typeface="DM Sans"/>
              </a:rPr>
              <a:t>Create streamlined dashboards</a:t>
            </a:r>
          </a:p>
          <a:p>
            <a:pPr algn="l" marL="560682" indent="-280341" lvl="1">
              <a:lnSpc>
                <a:spcPts val="2596"/>
              </a:lnSpc>
              <a:buFont typeface="Arial"/>
              <a:buChar char="•"/>
            </a:pPr>
            <a:r>
              <a:rPr lang="en-US" sz="2596">
                <a:solidFill>
                  <a:srgbClr val="000000"/>
                </a:solidFill>
                <a:latin typeface="DM Sans"/>
                <a:ea typeface="DM Sans"/>
                <a:cs typeface="DM Sans"/>
                <a:sym typeface="DM Sans"/>
              </a:rPr>
              <a:t>Analyze healthcare trends</a:t>
            </a:r>
          </a:p>
          <a:p>
            <a:pPr algn="l" marL="560682" indent="-280341" lvl="1">
              <a:lnSpc>
                <a:spcPts val="2596"/>
              </a:lnSpc>
              <a:buFont typeface="Arial"/>
              <a:buChar char="•"/>
            </a:pPr>
            <a:r>
              <a:rPr lang="en-US" sz="2596">
                <a:solidFill>
                  <a:srgbClr val="000000"/>
                </a:solidFill>
                <a:latin typeface="DM Sans"/>
                <a:ea typeface="DM Sans"/>
                <a:cs typeface="DM Sans"/>
                <a:sym typeface="DM Sans"/>
              </a:rPr>
              <a:t>Develop dashboards using Power BI</a:t>
            </a:r>
          </a:p>
        </p:txBody>
      </p:sp>
      <p:sp>
        <p:nvSpPr>
          <p:cNvPr name="TextBox 19" id="19"/>
          <p:cNvSpPr txBox="true"/>
          <p:nvPr/>
        </p:nvSpPr>
        <p:spPr>
          <a:xfrm rot="0">
            <a:off x="10071409" y="5526581"/>
            <a:ext cx="3217515" cy="695959"/>
          </a:xfrm>
          <a:prstGeom prst="rect">
            <a:avLst/>
          </a:prstGeom>
        </p:spPr>
        <p:txBody>
          <a:bodyPr anchor="t" rtlCol="false" tIns="0" lIns="0" bIns="0" rIns="0">
            <a:spAutoFit/>
          </a:bodyPr>
          <a:lstStyle/>
          <a:p>
            <a:pPr algn="ctr">
              <a:lnSpc>
                <a:spcPts val="5740"/>
              </a:lnSpc>
            </a:pPr>
            <a:r>
              <a:rPr lang="en-US" b="true" sz="4100">
                <a:solidFill>
                  <a:srgbClr val="FFFFFF"/>
                </a:solidFill>
                <a:latin typeface="Canva Sans Bold"/>
                <a:ea typeface="Canva Sans Bold"/>
                <a:cs typeface="Canva Sans Bold"/>
                <a:sym typeface="Canva Sans Bold"/>
              </a:rPr>
              <a:t>OBJECTIVES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3640680" y="5262870"/>
            <a:ext cx="4647320" cy="5024130"/>
          </a:xfrm>
          <a:custGeom>
            <a:avLst/>
            <a:gdLst/>
            <a:ahLst/>
            <a:cxnLst/>
            <a:rect r="r" b="b" t="t" l="l"/>
            <a:pathLst>
              <a:path h="5024130" w="4647320">
                <a:moveTo>
                  <a:pt x="0" y="0"/>
                </a:moveTo>
                <a:lnTo>
                  <a:pt x="4647320" y="0"/>
                </a:lnTo>
                <a:lnTo>
                  <a:pt x="4647320" y="5024130"/>
                </a:lnTo>
                <a:lnTo>
                  <a:pt x="0" y="5024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72822" y="0"/>
            <a:ext cx="2609964" cy="3030437"/>
          </a:xfrm>
          <a:custGeom>
            <a:avLst/>
            <a:gdLst/>
            <a:ahLst/>
            <a:cxnLst/>
            <a:rect r="r" b="b" t="t" l="l"/>
            <a:pathLst>
              <a:path h="3030437" w="2609964">
                <a:moveTo>
                  <a:pt x="0" y="0"/>
                </a:moveTo>
                <a:lnTo>
                  <a:pt x="2609964" y="0"/>
                </a:lnTo>
                <a:lnTo>
                  <a:pt x="2609964" y="3030437"/>
                </a:lnTo>
                <a:lnTo>
                  <a:pt x="0" y="3030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829634" y="1214113"/>
            <a:ext cx="9319369" cy="1425702"/>
          </a:xfrm>
          <a:prstGeom prst="rect">
            <a:avLst/>
          </a:prstGeom>
        </p:spPr>
        <p:txBody>
          <a:bodyPr anchor="t" rtlCol="false" tIns="0" lIns="0" bIns="0" rIns="0">
            <a:spAutoFit/>
          </a:bodyPr>
          <a:lstStyle/>
          <a:p>
            <a:pPr algn="ctr">
              <a:lnSpc>
                <a:spcPts val="5544"/>
              </a:lnSpc>
            </a:pPr>
            <a:r>
              <a:rPr lang="en-US" b="true" sz="5600">
                <a:solidFill>
                  <a:srgbClr val="01386A"/>
                </a:solidFill>
                <a:latin typeface="Montserrat Bold"/>
                <a:ea typeface="Montserrat Bold"/>
                <a:cs typeface="Montserrat Bold"/>
                <a:sym typeface="Montserrat Bold"/>
              </a:rPr>
              <a:t>DATASET &amp; TECHNOLOGIES USED</a:t>
            </a:r>
          </a:p>
        </p:txBody>
      </p:sp>
      <p:sp>
        <p:nvSpPr>
          <p:cNvPr name="TextBox 5" id="5"/>
          <p:cNvSpPr txBox="true"/>
          <p:nvPr/>
        </p:nvSpPr>
        <p:spPr>
          <a:xfrm rot="0">
            <a:off x="2327161" y="4373448"/>
            <a:ext cx="6302489" cy="723900"/>
          </a:xfrm>
          <a:prstGeom prst="rect">
            <a:avLst/>
          </a:prstGeom>
        </p:spPr>
        <p:txBody>
          <a:bodyPr anchor="t" rtlCol="false" tIns="0" lIns="0" bIns="0" rIns="0">
            <a:spAutoFit/>
          </a:bodyPr>
          <a:lstStyle/>
          <a:p>
            <a:pPr algn="l">
              <a:lnSpc>
                <a:spcPts val="2879"/>
              </a:lnSpc>
            </a:pPr>
            <a:r>
              <a:rPr lang="en-US" sz="2400">
                <a:solidFill>
                  <a:srgbClr val="545454"/>
                </a:solidFill>
                <a:latin typeface="DM Sans"/>
                <a:ea typeface="DM Sans"/>
                <a:cs typeface="DM Sans"/>
                <a:sym typeface="DM Sans"/>
              </a:rPr>
              <a:t>Healthcare patient monitoring dataset collected from Kaggle.</a:t>
            </a:r>
          </a:p>
        </p:txBody>
      </p:sp>
      <p:sp>
        <p:nvSpPr>
          <p:cNvPr name="TextBox 6" id="6"/>
          <p:cNvSpPr txBox="true"/>
          <p:nvPr/>
        </p:nvSpPr>
        <p:spPr>
          <a:xfrm rot="0">
            <a:off x="9716875" y="4373448"/>
            <a:ext cx="6378386" cy="2533650"/>
          </a:xfrm>
          <a:prstGeom prst="rect">
            <a:avLst/>
          </a:prstGeom>
        </p:spPr>
        <p:txBody>
          <a:bodyPr anchor="t" rtlCol="false" tIns="0" lIns="0" bIns="0" rIns="0">
            <a:spAutoFit/>
          </a:bodyPr>
          <a:lstStyle/>
          <a:p>
            <a:pPr algn="l" marL="518160" indent="-259080" lvl="1">
              <a:lnSpc>
                <a:spcPts val="2879"/>
              </a:lnSpc>
              <a:buFont typeface="Arial"/>
              <a:buChar char="•"/>
            </a:pPr>
            <a:r>
              <a:rPr lang="en-US" sz="2400">
                <a:solidFill>
                  <a:srgbClr val="545454"/>
                </a:solidFill>
                <a:latin typeface="DM Sans"/>
                <a:ea typeface="DM Sans"/>
                <a:cs typeface="DM Sans"/>
                <a:sym typeface="DM Sans"/>
              </a:rPr>
              <a:t>Patient ID</a:t>
            </a:r>
          </a:p>
          <a:p>
            <a:pPr algn="l" marL="518160" indent="-259080" lvl="1">
              <a:lnSpc>
                <a:spcPts val="2879"/>
              </a:lnSpc>
              <a:buFont typeface="Arial"/>
              <a:buChar char="•"/>
            </a:pPr>
            <a:r>
              <a:rPr lang="en-US" sz="2400">
                <a:solidFill>
                  <a:srgbClr val="545454"/>
                </a:solidFill>
                <a:latin typeface="DM Sans"/>
                <a:ea typeface="DM Sans"/>
                <a:cs typeface="DM Sans"/>
                <a:sym typeface="DM Sans"/>
              </a:rPr>
              <a:t>Heart Rate</a:t>
            </a:r>
          </a:p>
          <a:p>
            <a:pPr algn="l" marL="518160" indent="-259080" lvl="1">
              <a:lnSpc>
                <a:spcPts val="2879"/>
              </a:lnSpc>
              <a:buFont typeface="Arial"/>
              <a:buChar char="•"/>
            </a:pPr>
            <a:r>
              <a:rPr lang="en-US" sz="2400">
                <a:solidFill>
                  <a:srgbClr val="545454"/>
                </a:solidFill>
                <a:latin typeface="DM Sans"/>
                <a:ea typeface="DM Sans"/>
                <a:cs typeface="DM Sans"/>
                <a:sym typeface="DM Sans"/>
              </a:rPr>
              <a:t>Blood Pressure</a:t>
            </a:r>
          </a:p>
          <a:p>
            <a:pPr algn="l" marL="518160" indent="-259080" lvl="1">
              <a:lnSpc>
                <a:spcPts val="2879"/>
              </a:lnSpc>
              <a:buFont typeface="Arial"/>
              <a:buChar char="•"/>
            </a:pPr>
            <a:r>
              <a:rPr lang="en-US" sz="2400">
                <a:solidFill>
                  <a:srgbClr val="545454"/>
                </a:solidFill>
                <a:latin typeface="DM Sans"/>
                <a:ea typeface="DM Sans"/>
                <a:cs typeface="DM Sans"/>
                <a:sym typeface="DM Sans"/>
              </a:rPr>
              <a:t>Temperature</a:t>
            </a:r>
          </a:p>
          <a:p>
            <a:pPr algn="l" marL="518160" indent="-259080" lvl="1">
              <a:lnSpc>
                <a:spcPts val="2879"/>
              </a:lnSpc>
              <a:buFont typeface="Arial"/>
              <a:buChar char="•"/>
            </a:pPr>
            <a:r>
              <a:rPr lang="en-US" sz="2400">
                <a:solidFill>
                  <a:srgbClr val="545454"/>
                </a:solidFill>
                <a:latin typeface="DM Sans"/>
                <a:ea typeface="DM Sans"/>
                <a:cs typeface="DM Sans"/>
                <a:sym typeface="DM Sans"/>
              </a:rPr>
              <a:t>Battery Level</a:t>
            </a:r>
          </a:p>
          <a:p>
            <a:pPr algn="l" marL="518160" indent="-259080" lvl="1">
              <a:lnSpc>
                <a:spcPts val="2879"/>
              </a:lnSpc>
              <a:buFont typeface="Arial"/>
              <a:buChar char="•"/>
            </a:pPr>
            <a:r>
              <a:rPr lang="en-US" sz="2400">
                <a:solidFill>
                  <a:srgbClr val="545454"/>
                </a:solidFill>
                <a:latin typeface="DM Sans"/>
                <a:ea typeface="DM Sans"/>
                <a:cs typeface="DM Sans"/>
                <a:sym typeface="DM Sans"/>
              </a:rPr>
              <a:t>Health Status</a:t>
            </a:r>
          </a:p>
          <a:p>
            <a:pPr algn="l">
              <a:lnSpc>
                <a:spcPts val="2879"/>
              </a:lnSpc>
            </a:pPr>
          </a:p>
        </p:txBody>
      </p:sp>
      <p:sp>
        <p:nvSpPr>
          <p:cNvPr name="TextBox 7" id="7"/>
          <p:cNvSpPr txBox="true"/>
          <p:nvPr/>
        </p:nvSpPr>
        <p:spPr>
          <a:xfrm rot="0">
            <a:off x="2327161" y="6724650"/>
            <a:ext cx="4071647" cy="2533650"/>
          </a:xfrm>
          <a:prstGeom prst="rect">
            <a:avLst/>
          </a:prstGeom>
        </p:spPr>
        <p:txBody>
          <a:bodyPr anchor="t" rtlCol="false" tIns="0" lIns="0" bIns="0" rIns="0">
            <a:spAutoFit/>
          </a:bodyPr>
          <a:lstStyle/>
          <a:p>
            <a:pPr algn="l" marL="518160" indent="-259080" lvl="1">
              <a:lnSpc>
                <a:spcPts val="2879"/>
              </a:lnSpc>
              <a:buFont typeface="Arial"/>
              <a:buChar char="•"/>
            </a:pPr>
            <a:r>
              <a:rPr lang="en-US" sz="2400">
                <a:solidFill>
                  <a:srgbClr val="545454"/>
                </a:solidFill>
                <a:latin typeface="DM Sans"/>
                <a:ea typeface="DM Sans"/>
                <a:cs typeface="DM Sans"/>
                <a:sym typeface="DM Sans"/>
              </a:rPr>
              <a:t>Python</a:t>
            </a:r>
          </a:p>
          <a:p>
            <a:pPr algn="l" marL="518160" indent="-259080" lvl="1">
              <a:lnSpc>
                <a:spcPts val="2879"/>
              </a:lnSpc>
              <a:buFont typeface="Arial"/>
              <a:buChar char="•"/>
            </a:pPr>
            <a:r>
              <a:rPr lang="en-US" sz="2400">
                <a:solidFill>
                  <a:srgbClr val="545454"/>
                </a:solidFill>
                <a:latin typeface="DM Sans"/>
                <a:ea typeface="DM Sans"/>
                <a:cs typeface="DM Sans"/>
                <a:sym typeface="DM Sans"/>
              </a:rPr>
              <a:t>Pandas</a:t>
            </a:r>
          </a:p>
          <a:p>
            <a:pPr algn="l" marL="518160" indent="-259080" lvl="1">
              <a:lnSpc>
                <a:spcPts val="2879"/>
              </a:lnSpc>
              <a:buFont typeface="Arial"/>
              <a:buChar char="•"/>
            </a:pPr>
            <a:r>
              <a:rPr lang="en-US" sz="2400">
                <a:solidFill>
                  <a:srgbClr val="545454"/>
                </a:solidFill>
                <a:latin typeface="DM Sans"/>
                <a:ea typeface="DM Sans"/>
                <a:cs typeface="DM Sans"/>
                <a:sym typeface="DM Sans"/>
              </a:rPr>
              <a:t>Apache Kafka</a:t>
            </a:r>
          </a:p>
          <a:p>
            <a:pPr algn="l" marL="518160" indent="-259080" lvl="1">
              <a:lnSpc>
                <a:spcPts val="2879"/>
              </a:lnSpc>
              <a:buFont typeface="Arial"/>
              <a:buChar char="•"/>
            </a:pPr>
            <a:r>
              <a:rPr lang="en-US" sz="2400">
                <a:solidFill>
                  <a:srgbClr val="545454"/>
                </a:solidFill>
                <a:latin typeface="DM Sans"/>
                <a:ea typeface="DM Sans"/>
                <a:cs typeface="DM Sans"/>
                <a:sym typeface="DM Sans"/>
              </a:rPr>
              <a:t>SQL Server</a:t>
            </a:r>
          </a:p>
          <a:p>
            <a:pPr algn="l" marL="518160" indent="-259080" lvl="1">
              <a:lnSpc>
                <a:spcPts val="2879"/>
              </a:lnSpc>
              <a:buFont typeface="Arial"/>
              <a:buChar char="•"/>
            </a:pPr>
            <a:r>
              <a:rPr lang="en-US" sz="2400">
                <a:solidFill>
                  <a:srgbClr val="545454"/>
                </a:solidFill>
                <a:latin typeface="DM Sans"/>
                <a:ea typeface="DM Sans"/>
                <a:cs typeface="DM Sans"/>
                <a:sym typeface="DM Sans"/>
              </a:rPr>
              <a:t>Streamlit</a:t>
            </a:r>
          </a:p>
          <a:p>
            <a:pPr algn="l" marL="518160" indent="-259080" lvl="1">
              <a:lnSpc>
                <a:spcPts val="2879"/>
              </a:lnSpc>
              <a:buFont typeface="Arial"/>
              <a:buChar char="•"/>
            </a:pPr>
            <a:r>
              <a:rPr lang="en-US" sz="2400">
                <a:solidFill>
                  <a:srgbClr val="545454"/>
                </a:solidFill>
                <a:latin typeface="DM Sans"/>
                <a:ea typeface="DM Sans"/>
                <a:cs typeface="DM Sans"/>
                <a:sym typeface="DM Sans"/>
              </a:rPr>
              <a:t>Power BI</a:t>
            </a:r>
          </a:p>
          <a:p>
            <a:pPr algn="l">
              <a:lnSpc>
                <a:spcPts val="2879"/>
              </a:lnSpc>
            </a:pPr>
          </a:p>
        </p:txBody>
      </p:sp>
      <p:sp>
        <p:nvSpPr>
          <p:cNvPr name="TextBox 8" id="8"/>
          <p:cNvSpPr txBox="true"/>
          <p:nvPr/>
        </p:nvSpPr>
        <p:spPr>
          <a:xfrm rot="0">
            <a:off x="1477804" y="3793058"/>
            <a:ext cx="130492" cy="580390"/>
          </a:xfrm>
          <a:prstGeom prst="rect">
            <a:avLst/>
          </a:prstGeom>
        </p:spPr>
        <p:txBody>
          <a:bodyPr anchor="t" rtlCol="false" tIns="0" lIns="0" bIns="0" rIns="0">
            <a:spAutoFit/>
          </a:bodyPr>
          <a:lstStyle/>
          <a:p>
            <a:pPr algn="ctr">
              <a:lnSpc>
                <a:spcPts val="4759"/>
              </a:lnSpc>
            </a:pPr>
            <a:r>
              <a:rPr lang="en-US" sz="3399">
                <a:solidFill>
                  <a:srgbClr val="FFFFFF"/>
                </a:solidFill>
                <a:latin typeface="DM Sans"/>
                <a:ea typeface="DM Sans"/>
                <a:cs typeface="DM Sans"/>
                <a:sym typeface="DM Sans"/>
              </a:rPr>
              <a:t>1</a:t>
            </a:r>
          </a:p>
        </p:txBody>
      </p:sp>
      <p:sp>
        <p:nvSpPr>
          <p:cNvPr name="TextBox 9" id="9"/>
          <p:cNvSpPr txBox="true"/>
          <p:nvPr/>
        </p:nvSpPr>
        <p:spPr>
          <a:xfrm rot="0">
            <a:off x="9017020" y="3840365"/>
            <a:ext cx="253960" cy="580390"/>
          </a:xfrm>
          <a:prstGeom prst="rect">
            <a:avLst/>
          </a:prstGeom>
        </p:spPr>
        <p:txBody>
          <a:bodyPr anchor="t" rtlCol="false" tIns="0" lIns="0" bIns="0" rIns="0">
            <a:spAutoFit/>
          </a:bodyPr>
          <a:lstStyle/>
          <a:p>
            <a:pPr algn="ctr">
              <a:lnSpc>
                <a:spcPts val="4759"/>
              </a:lnSpc>
            </a:pPr>
            <a:r>
              <a:rPr lang="en-US" sz="3399">
                <a:solidFill>
                  <a:srgbClr val="FFFFFF"/>
                </a:solidFill>
                <a:latin typeface="DM Sans"/>
                <a:ea typeface="DM Sans"/>
                <a:cs typeface="DM Sans"/>
                <a:sym typeface="DM Sans"/>
              </a:rPr>
              <a:t>3</a:t>
            </a:r>
          </a:p>
        </p:txBody>
      </p:sp>
      <p:sp>
        <p:nvSpPr>
          <p:cNvPr name="TextBox 10" id="10"/>
          <p:cNvSpPr txBox="true"/>
          <p:nvPr/>
        </p:nvSpPr>
        <p:spPr>
          <a:xfrm rot="0">
            <a:off x="9013388" y="6368300"/>
            <a:ext cx="261223" cy="580390"/>
          </a:xfrm>
          <a:prstGeom prst="rect">
            <a:avLst/>
          </a:prstGeom>
        </p:spPr>
        <p:txBody>
          <a:bodyPr anchor="t" rtlCol="false" tIns="0" lIns="0" bIns="0" rIns="0">
            <a:spAutoFit/>
          </a:bodyPr>
          <a:lstStyle/>
          <a:p>
            <a:pPr algn="ctr">
              <a:lnSpc>
                <a:spcPts val="4759"/>
              </a:lnSpc>
            </a:pPr>
            <a:r>
              <a:rPr lang="en-US" sz="3399">
                <a:solidFill>
                  <a:srgbClr val="FFFFFF"/>
                </a:solidFill>
                <a:latin typeface="DM Sans"/>
                <a:ea typeface="DM Sans"/>
                <a:cs typeface="DM Sans"/>
                <a:sym typeface="DM Sans"/>
              </a:rPr>
              <a:t>4</a:t>
            </a:r>
          </a:p>
        </p:txBody>
      </p:sp>
      <p:grpSp>
        <p:nvGrpSpPr>
          <p:cNvPr name="Group 11" id="11"/>
          <p:cNvGrpSpPr/>
          <p:nvPr/>
        </p:nvGrpSpPr>
        <p:grpSpPr>
          <a:xfrm rot="0">
            <a:off x="2057400" y="3286606"/>
            <a:ext cx="5518320" cy="830673"/>
            <a:chOff x="0" y="0"/>
            <a:chExt cx="1361858" cy="205000"/>
          </a:xfrm>
        </p:grpSpPr>
        <p:sp>
          <p:nvSpPr>
            <p:cNvPr name="Freeform 12" id="12"/>
            <p:cNvSpPr/>
            <p:nvPr/>
          </p:nvSpPr>
          <p:spPr>
            <a:xfrm flipH="false" flipV="false" rot="0">
              <a:off x="0" y="0"/>
              <a:ext cx="1361858" cy="205000"/>
            </a:xfrm>
            <a:custGeom>
              <a:avLst/>
              <a:gdLst/>
              <a:ahLst/>
              <a:cxnLst/>
              <a:rect r="r" b="b" t="t" l="l"/>
              <a:pathLst>
                <a:path h="205000" w="1361858">
                  <a:moveTo>
                    <a:pt x="71550" y="0"/>
                  </a:moveTo>
                  <a:lnTo>
                    <a:pt x="1290308" y="0"/>
                  </a:lnTo>
                  <a:cubicBezTo>
                    <a:pt x="1329824" y="0"/>
                    <a:pt x="1361858" y="32034"/>
                    <a:pt x="1361858" y="71550"/>
                  </a:cubicBezTo>
                  <a:lnTo>
                    <a:pt x="1361858" y="133450"/>
                  </a:lnTo>
                  <a:cubicBezTo>
                    <a:pt x="1361858" y="172966"/>
                    <a:pt x="1329824" y="205000"/>
                    <a:pt x="1290308" y="205000"/>
                  </a:cubicBezTo>
                  <a:lnTo>
                    <a:pt x="71550" y="205000"/>
                  </a:lnTo>
                  <a:cubicBezTo>
                    <a:pt x="32034" y="205000"/>
                    <a:pt x="0" y="172966"/>
                    <a:pt x="0" y="133450"/>
                  </a:cubicBezTo>
                  <a:lnTo>
                    <a:pt x="0" y="71550"/>
                  </a:lnTo>
                  <a:cubicBezTo>
                    <a:pt x="0" y="32034"/>
                    <a:pt x="32034" y="0"/>
                    <a:pt x="71550" y="0"/>
                  </a:cubicBezTo>
                  <a:close/>
                </a:path>
              </a:pathLst>
            </a:custGeom>
            <a:solidFill>
              <a:srgbClr val="01386A"/>
            </a:solidFill>
          </p:spPr>
        </p:sp>
        <p:sp>
          <p:nvSpPr>
            <p:cNvPr name="TextBox 13" id="13"/>
            <p:cNvSpPr txBox="true"/>
            <p:nvPr/>
          </p:nvSpPr>
          <p:spPr>
            <a:xfrm>
              <a:off x="0" y="19050"/>
              <a:ext cx="1361858" cy="185950"/>
            </a:xfrm>
            <a:prstGeom prst="rect">
              <a:avLst/>
            </a:prstGeom>
          </p:spPr>
          <p:txBody>
            <a:bodyPr anchor="ctr" rtlCol="false" tIns="50800" lIns="50800" bIns="50800" rIns="50800"/>
            <a:lstStyle/>
            <a:p>
              <a:pPr algn="ctr">
                <a:lnSpc>
                  <a:spcPts val="2553"/>
                </a:lnSpc>
              </a:pPr>
            </a:p>
          </p:txBody>
        </p:sp>
      </p:grpSp>
      <p:sp>
        <p:nvSpPr>
          <p:cNvPr name="TextBox 14" id="14"/>
          <p:cNvSpPr txBox="true"/>
          <p:nvPr/>
        </p:nvSpPr>
        <p:spPr>
          <a:xfrm rot="0">
            <a:off x="2254535" y="3315863"/>
            <a:ext cx="5150197" cy="695959"/>
          </a:xfrm>
          <a:prstGeom prst="rect">
            <a:avLst/>
          </a:prstGeom>
        </p:spPr>
        <p:txBody>
          <a:bodyPr anchor="t" rtlCol="false" tIns="0" lIns="0" bIns="0" rIns="0">
            <a:spAutoFit/>
          </a:bodyPr>
          <a:lstStyle/>
          <a:p>
            <a:pPr algn="ctr">
              <a:lnSpc>
                <a:spcPts val="5740"/>
              </a:lnSpc>
            </a:pPr>
            <a:r>
              <a:rPr lang="en-US" sz="4100" b="true">
                <a:solidFill>
                  <a:srgbClr val="FFFFFF"/>
                </a:solidFill>
                <a:latin typeface="Canva Sans Bold"/>
                <a:ea typeface="Canva Sans Bold"/>
                <a:cs typeface="Canva Sans Bold"/>
                <a:sym typeface="Canva Sans Bold"/>
              </a:rPr>
              <a:t>Dataset </a:t>
            </a:r>
            <a:r>
              <a:rPr lang="en-US" b="true" sz="4100">
                <a:solidFill>
                  <a:srgbClr val="FFFFFF"/>
                </a:solidFill>
                <a:latin typeface="Canva Sans Bold"/>
                <a:ea typeface="Canva Sans Bold"/>
                <a:cs typeface="Canva Sans Bold"/>
                <a:sym typeface="Canva Sans Bold"/>
              </a:rPr>
              <a:t>Information</a:t>
            </a:r>
          </a:p>
        </p:txBody>
      </p:sp>
      <p:grpSp>
        <p:nvGrpSpPr>
          <p:cNvPr name="Group 15" id="15"/>
          <p:cNvGrpSpPr/>
          <p:nvPr/>
        </p:nvGrpSpPr>
        <p:grpSpPr>
          <a:xfrm rot="0">
            <a:off x="9661483" y="3285918"/>
            <a:ext cx="5518320" cy="830673"/>
            <a:chOff x="0" y="0"/>
            <a:chExt cx="1361858" cy="205000"/>
          </a:xfrm>
        </p:grpSpPr>
        <p:sp>
          <p:nvSpPr>
            <p:cNvPr name="Freeform 16" id="16"/>
            <p:cNvSpPr/>
            <p:nvPr/>
          </p:nvSpPr>
          <p:spPr>
            <a:xfrm flipH="false" flipV="false" rot="0">
              <a:off x="0" y="0"/>
              <a:ext cx="1361858" cy="205000"/>
            </a:xfrm>
            <a:custGeom>
              <a:avLst/>
              <a:gdLst/>
              <a:ahLst/>
              <a:cxnLst/>
              <a:rect r="r" b="b" t="t" l="l"/>
              <a:pathLst>
                <a:path h="205000" w="1361858">
                  <a:moveTo>
                    <a:pt x="71550" y="0"/>
                  </a:moveTo>
                  <a:lnTo>
                    <a:pt x="1290308" y="0"/>
                  </a:lnTo>
                  <a:cubicBezTo>
                    <a:pt x="1329824" y="0"/>
                    <a:pt x="1361858" y="32034"/>
                    <a:pt x="1361858" y="71550"/>
                  </a:cubicBezTo>
                  <a:lnTo>
                    <a:pt x="1361858" y="133450"/>
                  </a:lnTo>
                  <a:cubicBezTo>
                    <a:pt x="1361858" y="172966"/>
                    <a:pt x="1329824" y="205000"/>
                    <a:pt x="1290308" y="205000"/>
                  </a:cubicBezTo>
                  <a:lnTo>
                    <a:pt x="71550" y="205000"/>
                  </a:lnTo>
                  <a:cubicBezTo>
                    <a:pt x="32034" y="205000"/>
                    <a:pt x="0" y="172966"/>
                    <a:pt x="0" y="133450"/>
                  </a:cubicBezTo>
                  <a:lnTo>
                    <a:pt x="0" y="71550"/>
                  </a:lnTo>
                  <a:cubicBezTo>
                    <a:pt x="0" y="32034"/>
                    <a:pt x="32034" y="0"/>
                    <a:pt x="71550" y="0"/>
                  </a:cubicBezTo>
                  <a:close/>
                </a:path>
              </a:pathLst>
            </a:custGeom>
            <a:solidFill>
              <a:srgbClr val="01386A"/>
            </a:solidFill>
          </p:spPr>
        </p:sp>
        <p:sp>
          <p:nvSpPr>
            <p:cNvPr name="TextBox 17" id="17"/>
            <p:cNvSpPr txBox="true"/>
            <p:nvPr/>
          </p:nvSpPr>
          <p:spPr>
            <a:xfrm>
              <a:off x="0" y="19050"/>
              <a:ext cx="1361858" cy="185950"/>
            </a:xfrm>
            <a:prstGeom prst="rect">
              <a:avLst/>
            </a:prstGeom>
          </p:spPr>
          <p:txBody>
            <a:bodyPr anchor="ctr" rtlCol="false" tIns="50800" lIns="50800" bIns="50800" rIns="50800"/>
            <a:lstStyle/>
            <a:p>
              <a:pPr algn="ctr">
                <a:lnSpc>
                  <a:spcPts val="2553"/>
                </a:lnSpc>
              </a:pPr>
            </a:p>
          </p:txBody>
        </p:sp>
      </p:grpSp>
      <p:sp>
        <p:nvSpPr>
          <p:cNvPr name="TextBox 18" id="18"/>
          <p:cNvSpPr txBox="true"/>
          <p:nvPr/>
        </p:nvSpPr>
        <p:spPr>
          <a:xfrm rot="0">
            <a:off x="10227870" y="3315175"/>
            <a:ext cx="4279999" cy="1419859"/>
          </a:xfrm>
          <a:prstGeom prst="rect">
            <a:avLst/>
          </a:prstGeom>
        </p:spPr>
        <p:txBody>
          <a:bodyPr anchor="t" rtlCol="false" tIns="0" lIns="0" bIns="0" rIns="0">
            <a:spAutoFit/>
          </a:bodyPr>
          <a:lstStyle/>
          <a:p>
            <a:pPr algn="ctr">
              <a:lnSpc>
                <a:spcPts val="5740"/>
              </a:lnSpc>
            </a:pPr>
            <a:r>
              <a:rPr lang="en-US" sz="4100" b="true">
                <a:solidFill>
                  <a:srgbClr val="FFFFFF"/>
                </a:solidFill>
                <a:latin typeface="Canva Sans Bold"/>
                <a:ea typeface="Canva Sans Bold"/>
                <a:cs typeface="Canva Sans Bold"/>
                <a:sym typeface="Canva Sans Bold"/>
              </a:rPr>
              <a:t>Dataset </a:t>
            </a:r>
            <a:r>
              <a:rPr lang="en-US" b="true" sz="4100">
                <a:solidFill>
                  <a:srgbClr val="FFFFFF"/>
                </a:solidFill>
                <a:latin typeface="Canva Sans Bold"/>
                <a:ea typeface="Canva Sans Bold"/>
                <a:cs typeface="Canva Sans Bold"/>
                <a:sym typeface="Canva Sans Bold"/>
              </a:rPr>
              <a:t>Includes</a:t>
            </a:r>
          </a:p>
          <a:p>
            <a:pPr algn="ctr">
              <a:lnSpc>
                <a:spcPts val="5740"/>
              </a:lnSpc>
            </a:pPr>
          </a:p>
        </p:txBody>
      </p:sp>
      <p:grpSp>
        <p:nvGrpSpPr>
          <p:cNvPr name="Group 19" id="19"/>
          <p:cNvGrpSpPr/>
          <p:nvPr/>
        </p:nvGrpSpPr>
        <p:grpSpPr>
          <a:xfrm rot="0">
            <a:off x="1886413" y="5534816"/>
            <a:ext cx="5518320" cy="830673"/>
            <a:chOff x="0" y="0"/>
            <a:chExt cx="1361858" cy="205000"/>
          </a:xfrm>
        </p:grpSpPr>
        <p:sp>
          <p:nvSpPr>
            <p:cNvPr name="Freeform 20" id="20"/>
            <p:cNvSpPr/>
            <p:nvPr/>
          </p:nvSpPr>
          <p:spPr>
            <a:xfrm flipH="false" flipV="false" rot="0">
              <a:off x="0" y="0"/>
              <a:ext cx="1361858" cy="205000"/>
            </a:xfrm>
            <a:custGeom>
              <a:avLst/>
              <a:gdLst/>
              <a:ahLst/>
              <a:cxnLst/>
              <a:rect r="r" b="b" t="t" l="l"/>
              <a:pathLst>
                <a:path h="205000" w="1361858">
                  <a:moveTo>
                    <a:pt x="71550" y="0"/>
                  </a:moveTo>
                  <a:lnTo>
                    <a:pt x="1290308" y="0"/>
                  </a:lnTo>
                  <a:cubicBezTo>
                    <a:pt x="1329824" y="0"/>
                    <a:pt x="1361858" y="32034"/>
                    <a:pt x="1361858" y="71550"/>
                  </a:cubicBezTo>
                  <a:lnTo>
                    <a:pt x="1361858" y="133450"/>
                  </a:lnTo>
                  <a:cubicBezTo>
                    <a:pt x="1361858" y="172966"/>
                    <a:pt x="1329824" y="205000"/>
                    <a:pt x="1290308" y="205000"/>
                  </a:cubicBezTo>
                  <a:lnTo>
                    <a:pt x="71550" y="205000"/>
                  </a:lnTo>
                  <a:cubicBezTo>
                    <a:pt x="32034" y="205000"/>
                    <a:pt x="0" y="172966"/>
                    <a:pt x="0" y="133450"/>
                  </a:cubicBezTo>
                  <a:lnTo>
                    <a:pt x="0" y="71550"/>
                  </a:lnTo>
                  <a:cubicBezTo>
                    <a:pt x="0" y="32034"/>
                    <a:pt x="32034" y="0"/>
                    <a:pt x="71550" y="0"/>
                  </a:cubicBezTo>
                  <a:close/>
                </a:path>
              </a:pathLst>
            </a:custGeom>
            <a:solidFill>
              <a:srgbClr val="01386A"/>
            </a:solidFill>
          </p:spPr>
        </p:sp>
        <p:sp>
          <p:nvSpPr>
            <p:cNvPr name="TextBox 21" id="21"/>
            <p:cNvSpPr txBox="true"/>
            <p:nvPr/>
          </p:nvSpPr>
          <p:spPr>
            <a:xfrm>
              <a:off x="0" y="19050"/>
              <a:ext cx="1361858" cy="185950"/>
            </a:xfrm>
            <a:prstGeom prst="rect">
              <a:avLst/>
            </a:prstGeom>
          </p:spPr>
          <p:txBody>
            <a:bodyPr anchor="ctr" rtlCol="false" tIns="50800" lIns="50800" bIns="50800" rIns="50800"/>
            <a:lstStyle/>
            <a:p>
              <a:pPr algn="ctr">
                <a:lnSpc>
                  <a:spcPts val="2553"/>
                </a:lnSpc>
              </a:pPr>
            </a:p>
          </p:txBody>
        </p:sp>
      </p:grpSp>
      <p:sp>
        <p:nvSpPr>
          <p:cNvPr name="TextBox 22" id="22"/>
          <p:cNvSpPr txBox="true"/>
          <p:nvPr/>
        </p:nvSpPr>
        <p:spPr>
          <a:xfrm rot="0">
            <a:off x="2267597" y="5564073"/>
            <a:ext cx="4755952" cy="695959"/>
          </a:xfrm>
          <a:prstGeom prst="rect">
            <a:avLst/>
          </a:prstGeom>
        </p:spPr>
        <p:txBody>
          <a:bodyPr anchor="t" rtlCol="false" tIns="0" lIns="0" bIns="0" rIns="0">
            <a:spAutoFit/>
          </a:bodyPr>
          <a:lstStyle/>
          <a:p>
            <a:pPr algn="ctr">
              <a:lnSpc>
                <a:spcPts val="5740"/>
              </a:lnSpc>
            </a:pPr>
            <a:r>
              <a:rPr lang="en-US" sz="4100" b="true">
                <a:solidFill>
                  <a:srgbClr val="FFFFFF"/>
                </a:solidFill>
                <a:latin typeface="Canva Sans Bold"/>
                <a:ea typeface="Canva Sans Bold"/>
                <a:cs typeface="Canva Sans Bold"/>
                <a:sym typeface="Canva Sans Bold"/>
              </a:rPr>
              <a:t>Tech</a:t>
            </a:r>
            <a:r>
              <a:rPr lang="en-US" b="true" sz="4100">
                <a:solidFill>
                  <a:srgbClr val="FFFFFF"/>
                </a:solidFill>
                <a:latin typeface="Canva Sans Bold"/>
                <a:ea typeface="Canva Sans Bold"/>
                <a:cs typeface="Canva Sans Bold"/>
                <a:sym typeface="Canva Sans Bold"/>
              </a:rPr>
              <a:t>nologies Used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33915" y="693094"/>
            <a:ext cx="10620170" cy="775986"/>
          </a:xfrm>
          <a:prstGeom prst="rect">
            <a:avLst/>
          </a:prstGeom>
        </p:spPr>
        <p:txBody>
          <a:bodyPr anchor="t" rtlCol="false" tIns="0" lIns="0" bIns="0" rIns="0">
            <a:spAutoFit/>
          </a:bodyPr>
          <a:lstStyle/>
          <a:p>
            <a:pPr algn="ctr">
              <a:lnSpc>
                <a:spcPts val="5800"/>
              </a:lnSpc>
            </a:pPr>
            <a:r>
              <a:rPr lang="en-US" b="true" sz="5800">
                <a:solidFill>
                  <a:srgbClr val="01386A"/>
                </a:solidFill>
                <a:latin typeface="Montserrat Bold"/>
                <a:ea typeface="Montserrat Bold"/>
                <a:cs typeface="Montserrat Bold"/>
                <a:sym typeface="Montserrat Bold"/>
              </a:rPr>
              <a:t>SYSTEM ARCHITECTURE</a:t>
            </a:r>
          </a:p>
        </p:txBody>
      </p:sp>
      <p:sp>
        <p:nvSpPr>
          <p:cNvPr name="Freeform 3" id="3"/>
          <p:cNvSpPr/>
          <p:nvPr/>
        </p:nvSpPr>
        <p:spPr>
          <a:xfrm flipH="false" flipV="false" rot="0">
            <a:off x="0" y="0"/>
            <a:ext cx="4106228" cy="4114800"/>
          </a:xfrm>
          <a:custGeom>
            <a:avLst/>
            <a:gdLst/>
            <a:ahLst/>
            <a:cxnLst/>
            <a:rect r="r" b="b" t="t" l="l"/>
            <a:pathLst>
              <a:path h="4114800" w="4106228">
                <a:moveTo>
                  <a:pt x="0" y="0"/>
                </a:moveTo>
                <a:lnTo>
                  <a:pt x="4106228" y="0"/>
                </a:lnTo>
                <a:lnTo>
                  <a:pt x="410622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287226" y="278767"/>
            <a:ext cx="2457677" cy="2841245"/>
          </a:xfrm>
          <a:custGeom>
            <a:avLst/>
            <a:gdLst/>
            <a:ahLst/>
            <a:cxnLst/>
            <a:rect r="r" b="b" t="t" l="l"/>
            <a:pathLst>
              <a:path h="2841245" w="2457677">
                <a:moveTo>
                  <a:pt x="0" y="0"/>
                </a:moveTo>
                <a:lnTo>
                  <a:pt x="2457677" y="0"/>
                </a:lnTo>
                <a:lnTo>
                  <a:pt x="2457677" y="2841245"/>
                </a:lnTo>
                <a:lnTo>
                  <a:pt x="0" y="28412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3640680" y="5262870"/>
            <a:ext cx="4647320" cy="5024130"/>
          </a:xfrm>
          <a:custGeom>
            <a:avLst/>
            <a:gdLst/>
            <a:ahLst/>
            <a:cxnLst/>
            <a:rect r="r" b="b" t="t" l="l"/>
            <a:pathLst>
              <a:path h="5024130" w="4647320">
                <a:moveTo>
                  <a:pt x="0" y="0"/>
                </a:moveTo>
                <a:lnTo>
                  <a:pt x="4647320" y="0"/>
                </a:lnTo>
                <a:lnTo>
                  <a:pt x="4647320" y="5024130"/>
                </a:lnTo>
                <a:lnTo>
                  <a:pt x="0" y="50241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884097" y="1699390"/>
            <a:ext cx="5334545" cy="8281791"/>
          </a:xfrm>
          <a:custGeom>
            <a:avLst/>
            <a:gdLst/>
            <a:ahLst/>
            <a:cxnLst/>
            <a:rect r="r" b="b" t="t" l="l"/>
            <a:pathLst>
              <a:path h="8281791" w="5334545">
                <a:moveTo>
                  <a:pt x="0" y="0"/>
                </a:moveTo>
                <a:lnTo>
                  <a:pt x="5334545" y="0"/>
                </a:lnTo>
                <a:lnTo>
                  <a:pt x="5334545" y="8281791"/>
                </a:lnTo>
                <a:lnTo>
                  <a:pt x="0" y="8281791"/>
                </a:lnTo>
                <a:lnTo>
                  <a:pt x="0" y="0"/>
                </a:lnTo>
                <a:close/>
              </a:path>
            </a:pathLst>
          </a:custGeom>
          <a:blipFill>
            <a:blip r:embed="rId8"/>
            <a:stretch>
              <a:fillRect l="-2843" t="0" r="-59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3640680" y="5262870"/>
            <a:ext cx="4647320" cy="5024130"/>
          </a:xfrm>
          <a:custGeom>
            <a:avLst/>
            <a:gdLst/>
            <a:ahLst/>
            <a:cxnLst/>
            <a:rect r="r" b="b" t="t" l="l"/>
            <a:pathLst>
              <a:path h="5024130" w="4647320">
                <a:moveTo>
                  <a:pt x="0" y="0"/>
                </a:moveTo>
                <a:lnTo>
                  <a:pt x="4647320" y="0"/>
                </a:lnTo>
                <a:lnTo>
                  <a:pt x="4647320" y="5024130"/>
                </a:lnTo>
                <a:lnTo>
                  <a:pt x="0" y="5024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72822" y="0"/>
            <a:ext cx="2609964" cy="3030437"/>
          </a:xfrm>
          <a:custGeom>
            <a:avLst/>
            <a:gdLst/>
            <a:ahLst/>
            <a:cxnLst/>
            <a:rect r="r" b="b" t="t" l="l"/>
            <a:pathLst>
              <a:path h="3030437" w="2609964">
                <a:moveTo>
                  <a:pt x="0" y="0"/>
                </a:moveTo>
                <a:lnTo>
                  <a:pt x="2609964" y="0"/>
                </a:lnTo>
                <a:lnTo>
                  <a:pt x="2609964" y="3030437"/>
                </a:lnTo>
                <a:lnTo>
                  <a:pt x="0" y="3030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012740" y="1345641"/>
            <a:ext cx="10523743" cy="1425702"/>
          </a:xfrm>
          <a:prstGeom prst="rect">
            <a:avLst/>
          </a:prstGeom>
        </p:spPr>
        <p:txBody>
          <a:bodyPr anchor="t" rtlCol="false" tIns="0" lIns="0" bIns="0" rIns="0">
            <a:spAutoFit/>
          </a:bodyPr>
          <a:lstStyle/>
          <a:p>
            <a:pPr algn="ctr">
              <a:lnSpc>
                <a:spcPts val="5544"/>
              </a:lnSpc>
            </a:pPr>
            <a:r>
              <a:rPr lang="en-US" b="true" sz="5600">
                <a:solidFill>
                  <a:srgbClr val="01386A"/>
                </a:solidFill>
                <a:latin typeface="Montserrat Bold"/>
                <a:ea typeface="Montserrat Bold"/>
                <a:cs typeface="Montserrat Bold"/>
                <a:sym typeface="Montserrat Bold"/>
              </a:rPr>
              <a:t>DATA PREPROCESSING</a:t>
            </a:r>
          </a:p>
          <a:p>
            <a:pPr algn="ctr">
              <a:lnSpc>
                <a:spcPts val="5544"/>
              </a:lnSpc>
            </a:pPr>
          </a:p>
        </p:txBody>
      </p:sp>
      <p:sp>
        <p:nvSpPr>
          <p:cNvPr name="TextBox 5" id="5"/>
          <p:cNvSpPr txBox="true"/>
          <p:nvPr/>
        </p:nvSpPr>
        <p:spPr>
          <a:xfrm rot="0">
            <a:off x="2272384" y="2704668"/>
            <a:ext cx="6109097" cy="596899"/>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Data</a:t>
            </a:r>
            <a:r>
              <a:rPr lang="en-US" b="true" sz="3500">
                <a:solidFill>
                  <a:srgbClr val="000000"/>
                </a:solidFill>
                <a:latin typeface="Canva Sans Bold"/>
                <a:ea typeface="Canva Sans Bold"/>
                <a:cs typeface="Canva Sans Bold"/>
                <a:sym typeface="Canva Sans Bold"/>
              </a:rPr>
              <a:t> Cleaning &amp; Preparation</a:t>
            </a:r>
          </a:p>
        </p:txBody>
      </p:sp>
      <p:sp>
        <p:nvSpPr>
          <p:cNvPr name="TextBox 6" id="6"/>
          <p:cNvSpPr txBox="true"/>
          <p:nvPr/>
        </p:nvSpPr>
        <p:spPr>
          <a:xfrm rot="0">
            <a:off x="2147443" y="3898580"/>
            <a:ext cx="6359054" cy="2171700"/>
          </a:xfrm>
          <a:prstGeom prst="rect">
            <a:avLst/>
          </a:prstGeom>
        </p:spPr>
        <p:txBody>
          <a:bodyPr anchor="t" rtlCol="false" tIns="0" lIns="0" bIns="0" rIns="0">
            <a:spAutoFit/>
          </a:bodyPr>
          <a:lstStyle/>
          <a:p>
            <a:pPr algn="l" marL="518160" indent="-259080" lvl="1">
              <a:lnSpc>
                <a:spcPts val="2879"/>
              </a:lnSpc>
              <a:buFont typeface="Arial"/>
              <a:buChar char="•"/>
            </a:pPr>
            <a:r>
              <a:rPr lang="en-US" sz="2400">
                <a:solidFill>
                  <a:srgbClr val="000000"/>
                </a:solidFill>
                <a:latin typeface="DM Sans"/>
                <a:ea typeface="DM Sans"/>
                <a:cs typeface="DM Sans"/>
                <a:sym typeface="DM Sans"/>
              </a:rPr>
              <a:t>Removed null values</a:t>
            </a:r>
          </a:p>
          <a:p>
            <a:pPr algn="l" marL="518160" indent="-259080" lvl="1">
              <a:lnSpc>
                <a:spcPts val="2879"/>
              </a:lnSpc>
              <a:spcBef>
                <a:spcPct val="0"/>
              </a:spcBef>
              <a:buFont typeface="Arial"/>
              <a:buChar char="•"/>
            </a:pPr>
            <a:r>
              <a:rPr lang="en-US" sz="2400">
                <a:solidFill>
                  <a:srgbClr val="000000"/>
                </a:solidFill>
                <a:latin typeface="DM Sans"/>
                <a:ea typeface="DM Sans"/>
                <a:cs typeface="DM Sans"/>
                <a:sym typeface="DM Sans"/>
              </a:rPr>
              <a:t>Rem</a:t>
            </a:r>
            <a:r>
              <a:rPr lang="en-US" sz="2400">
                <a:solidFill>
                  <a:srgbClr val="000000"/>
                </a:solidFill>
                <a:latin typeface="DM Sans"/>
                <a:ea typeface="DM Sans"/>
                <a:cs typeface="DM Sans"/>
                <a:sym typeface="DM Sans"/>
              </a:rPr>
              <a:t>oved duplicate records</a:t>
            </a:r>
          </a:p>
          <a:p>
            <a:pPr algn="l" marL="518160" indent="-259080" lvl="1">
              <a:lnSpc>
                <a:spcPts val="2879"/>
              </a:lnSpc>
              <a:spcBef>
                <a:spcPct val="0"/>
              </a:spcBef>
              <a:buFont typeface="Arial"/>
              <a:buChar char="•"/>
            </a:pPr>
            <a:r>
              <a:rPr lang="en-US" sz="2400">
                <a:solidFill>
                  <a:srgbClr val="000000"/>
                </a:solidFill>
                <a:latin typeface="DM Sans"/>
                <a:ea typeface="DM Sans"/>
                <a:cs typeface="DM Sans"/>
                <a:sym typeface="DM Sans"/>
              </a:rPr>
              <a:t>Standardized healthcare data</a:t>
            </a:r>
          </a:p>
          <a:p>
            <a:pPr algn="l" marL="518160" indent="-259080" lvl="1">
              <a:lnSpc>
                <a:spcPts val="2879"/>
              </a:lnSpc>
              <a:spcBef>
                <a:spcPct val="0"/>
              </a:spcBef>
              <a:buFont typeface="Arial"/>
              <a:buChar char="•"/>
            </a:pPr>
            <a:r>
              <a:rPr lang="en-US" sz="2400">
                <a:solidFill>
                  <a:srgbClr val="000000"/>
                </a:solidFill>
                <a:latin typeface="DM Sans"/>
                <a:ea typeface="DM Sans"/>
                <a:cs typeface="DM Sans"/>
                <a:sym typeface="DM Sans"/>
              </a:rPr>
              <a:t>Converted dataset into structured format</a:t>
            </a:r>
          </a:p>
          <a:p>
            <a:pPr algn="l" marL="518160" indent="-259080" lvl="1">
              <a:lnSpc>
                <a:spcPts val="2879"/>
              </a:lnSpc>
              <a:spcBef>
                <a:spcPct val="0"/>
              </a:spcBef>
              <a:buFont typeface="Arial"/>
              <a:buChar char="•"/>
            </a:pPr>
            <a:r>
              <a:rPr lang="en-US" sz="2400">
                <a:solidFill>
                  <a:srgbClr val="000000"/>
                </a:solidFill>
                <a:latin typeface="DM Sans"/>
                <a:ea typeface="DM Sans"/>
                <a:cs typeface="DM Sans"/>
                <a:sym typeface="DM Sans"/>
              </a:rPr>
              <a:t>Prepared data for real-time streaming</a:t>
            </a:r>
          </a:p>
          <a:p>
            <a:pPr algn="l">
              <a:lnSpc>
                <a:spcPts val="2879"/>
              </a:lnSpc>
              <a:spcBef>
                <a:spcPct val="0"/>
              </a:spcBef>
            </a:pPr>
          </a:p>
        </p:txBody>
      </p:sp>
      <p:sp>
        <p:nvSpPr>
          <p:cNvPr name="TextBox 7" id="7"/>
          <p:cNvSpPr txBox="true"/>
          <p:nvPr/>
        </p:nvSpPr>
        <p:spPr>
          <a:xfrm rot="0">
            <a:off x="12181888" y="2698650"/>
            <a:ext cx="2051298" cy="596900"/>
          </a:xfrm>
          <a:prstGeom prst="rect">
            <a:avLst/>
          </a:prstGeom>
        </p:spPr>
        <p:txBody>
          <a:bodyPr anchor="t" rtlCol="false" tIns="0" lIns="0" bIns="0" rIns="0">
            <a:spAutoFit/>
          </a:bodyPr>
          <a:lstStyle/>
          <a:p>
            <a:pPr algn="ctr">
              <a:lnSpc>
                <a:spcPts val="4900"/>
              </a:lnSpc>
            </a:pPr>
            <a:r>
              <a:rPr lang="en-US" sz="3500" b="true">
                <a:solidFill>
                  <a:srgbClr val="000000"/>
                </a:solidFill>
                <a:latin typeface="Canva Sans Bold"/>
                <a:ea typeface="Canva Sans Bold"/>
                <a:cs typeface="Canva Sans Bold"/>
                <a:sym typeface="Canva Sans Bold"/>
              </a:rPr>
              <a:t>Workflow</a:t>
            </a:r>
          </a:p>
        </p:txBody>
      </p:sp>
      <p:sp>
        <p:nvSpPr>
          <p:cNvPr name="TextBox 8" id="8"/>
          <p:cNvSpPr txBox="true"/>
          <p:nvPr/>
        </p:nvSpPr>
        <p:spPr>
          <a:xfrm rot="0">
            <a:off x="11330852" y="3759865"/>
            <a:ext cx="3753371" cy="1809750"/>
          </a:xfrm>
          <a:prstGeom prst="rect">
            <a:avLst/>
          </a:prstGeom>
        </p:spPr>
        <p:txBody>
          <a:bodyPr anchor="t" rtlCol="false" tIns="0" lIns="0" bIns="0" rIns="0">
            <a:spAutoFit/>
          </a:bodyPr>
          <a:lstStyle/>
          <a:p>
            <a:pPr algn="ctr">
              <a:lnSpc>
                <a:spcPts val="2879"/>
              </a:lnSpc>
              <a:spcBef>
                <a:spcPct val="0"/>
              </a:spcBef>
            </a:pPr>
            <a:r>
              <a:rPr lang="en-US" sz="2400">
                <a:solidFill>
                  <a:srgbClr val="000000"/>
                </a:solidFill>
                <a:latin typeface="DM Sans"/>
                <a:ea typeface="DM Sans"/>
                <a:cs typeface="DM Sans"/>
                <a:sym typeface="DM Sans"/>
              </a:rPr>
              <a:t>Raw</a:t>
            </a:r>
            <a:r>
              <a:rPr lang="en-US" sz="2400">
                <a:solidFill>
                  <a:srgbClr val="000000"/>
                </a:solidFill>
                <a:latin typeface="DM Sans"/>
                <a:ea typeface="DM Sans"/>
                <a:cs typeface="DM Sans"/>
                <a:sym typeface="DM Sans"/>
              </a:rPr>
              <a:t> Dataset </a:t>
            </a:r>
          </a:p>
          <a:p>
            <a:pPr algn="ctr">
              <a:lnSpc>
                <a:spcPts val="2879"/>
              </a:lnSpc>
              <a:spcBef>
                <a:spcPct val="0"/>
              </a:spcBef>
            </a:pPr>
            <a:r>
              <a:rPr lang="en-US" sz="2400">
                <a:solidFill>
                  <a:srgbClr val="000000"/>
                </a:solidFill>
                <a:latin typeface="DM Sans"/>
                <a:ea typeface="DM Sans"/>
                <a:cs typeface="DM Sans"/>
                <a:sym typeface="DM Sans"/>
              </a:rPr>
              <a:t>|</a:t>
            </a:r>
          </a:p>
          <a:p>
            <a:pPr algn="ctr">
              <a:lnSpc>
                <a:spcPts val="2879"/>
              </a:lnSpc>
              <a:spcBef>
                <a:spcPct val="0"/>
              </a:spcBef>
            </a:pPr>
            <a:r>
              <a:rPr lang="en-US" sz="2400">
                <a:solidFill>
                  <a:srgbClr val="000000"/>
                </a:solidFill>
                <a:latin typeface="DM Sans"/>
                <a:ea typeface="DM Sans"/>
                <a:cs typeface="DM Sans"/>
                <a:sym typeface="DM Sans"/>
              </a:rPr>
              <a:t> Cleaned Dataset</a:t>
            </a:r>
          </a:p>
          <a:p>
            <a:pPr algn="ctr">
              <a:lnSpc>
                <a:spcPts val="2879"/>
              </a:lnSpc>
              <a:spcBef>
                <a:spcPct val="0"/>
              </a:spcBef>
            </a:pPr>
            <a:r>
              <a:rPr lang="en-US" sz="2400">
                <a:solidFill>
                  <a:srgbClr val="000000"/>
                </a:solidFill>
                <a:latin typeface="DM Sans"/>
                <a:ea typeface="DM Sans"/>
                <a:cs typeface="DM Sans"/>
                <a:sym typeface="DM Sans"/>
              </a:rPr>
              <a:t>|</a:t>
            </a:r>
          </a:p>
          <a:p>
            <a:pPr algn="ctr">
              <a:lnSpc>
                <a:spcPts val="2879"/>
              </a:lnSpc>
              <a:spcBef>
                <a:spcPct val="0"/>
              </a:spcBef>
            </a:pPr>
            <a:r>
              <a:rPr lang="en-US" sz="2400">
                <a:solidFill>
                  <a:srgbClr val="000000"/>
                </a:solidFill>
                <a:latin typeface="DM Sans"/>
                <a:ea typeface="DM Sans"/>
                <a:cs typeface="DM Sans"/>
                <a:sym typeface="DM Sans"/>
              </a:rPr>
              <a:t>Structured Streaming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04149" y="1732439"/>
            <a:ext cx="12866041" cy="698500"/>
          </a:xfrm>
          <a:prstGeom prst="rect">
            <a:avLst/>
          </a:prstGeom>
        </p:spPr>
        <p:txBody>
          <a:bodyPr anchor="t" rtlCol="false" tIns="0" lIns="0" bIns="0" rIns="0">
            <a:spAutoFit/>
          </a:bodyPr>
          <a:lstStyle/>
          <a:p>
            <a:pPr algn="ctr">
              <a:lnSpc>
                <a:spcPts val="5000"/>
              </a:lnSpc>
            </a:pPr>
            <a:r>
              <a:rPr lang="en-US" b="true" sz="5000">
                <a:solidFill>
                  <a:srgbClr val="01386A"/>
                </a:solidFill>
                <a:latin typeface="Times New Roman Bold"/>
                <a:ea typeface="Times New Roman Bold"/>
                <a:cs typeface="Times New Roman Bold"/>
                <a:sym typeface="Times New Roman Bold"/>
              </a:rPr>
              <a:t>APACHE KAFKA IMPLEMENTATION</a:t>
            </a:r>
          </a:p>
        </p:txBody>
      </p:sp>
      <p:sp>
        <p:nvSpPr>
          <p:cNvPr name="Freeform 3" id="3"/>
          <p:cNvSpPr/>
          <p:nvPr/>
        </p:nvSpPr>
        <p:spPr>
          <a:xfrm flipH="false" flipV="false" rot="5400000">
            <a:off x="14177486" y="-4286"/>
            <a:ext cx="4106228" cy="4114800"/>
          </a:xfrm>
          <a:custGeom>
            <a:avLst/>
            <a:gdLst/>
            <a:ahLst/>
            <a:cxnLst/>
            <a:rect r="r" b="b" t="t" l="l"/>
            <a:pathLst>
              <a:path h="4114800" w="4106228">
                <a:moveTo>
                  <a:pt x="0" y="0"/>
                </a:moveTo>
                <a:lnTo>
                  <a:pt x="4106228" y="0"/>
                </a:lnTo>
                <a:lnTo>
                  <a:pt x="410622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484236"/>
            <a:ext cx="9011810" cy="544464"/>
          </a:xfrm>
          <a:custGeom>
            <a:avLst/>
            <a:gdLst/>
            <a:ahLst/>
            <a:cxnLst/>
            <a:rect r="r" b="b" t="t" l="l"/>
            <a:pathLst>
              <a:path h="544464" w="9011810">
                <a:moveTo>
                  <a:pt x="0" y="0"/>
                </a:moveTo>
                <a:lnTo>
                  <a:pt x="9011810" y="0"/>
                </a:lnTo>
                <a:lnTo>
                  <a:pt x="9011810" y="544464"/>
                </a:lnTo>
                <a:lnTo>
                  <a:pt x="0" y="5444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337063" y="3755506"/>
            <a:ext cx="8950937" cy="4696177"/>
          </a:xfrm>
          <a:custGeom>
            <a:avLst/>
            <a:gdLst/>
            <a:ahLst/>
            <a:cxnLst/>
            <a:rect r="r" b="b" t="t" l="l"/>
            <a:pathLst>
              <a:path h="4696177" w="8950937">
                <a:moveTo>
                  <a:pt x="0" y="0"/>
                </a:moveTo>
                <a:lnTo>
                  <a:pt x="8950937" y="0"/>
                </a:lnTo>
                <a:lnTo>
                  <a:pt x="8950937" y="4696177"/>
                </a:lnTo>
                <a:lnTo>
                  <a:pt x="0" y="4696177"/>
                </a:lnTo>
                <a:lnTo>
                  <a:pt x="0" y="0"/>
                </a:lnTo>
                <a:close/>
              </a:path>
            </a:pathLst>
          </a:custGeom>
          <a:blipFill>
            <a:blip r:embed="rId6"/>
            <a:stretch>
              <a:fillRect l="0" t="-2296" r="0" b="-2296"/>
            </a:stretch>
          </a:blipFill>
        </p:spPr>
      </p:sp>
      <p:sp>
        <p:nvSpPr>
          <p:cNvPr name="TextBox 6" id="6"/>
          <p:cNvSpPr txBox="true"/>
          <p:nvPr/>
        </p:nvSpPr>
        <p:spPr>
          <a:xfrm rot="0">
            <a:off x="497317" y="3276248"/>
            <a:ext cx="8128872" cy="6058600"/>
          </a:xfrm>
          <a:prstGeom prst="rect">
            <a:avLst/>
          </a:prstGeom>
        </p:spPr>
        <p:txBody>
          <a:bodyPr anchor="t" rtlCol="false" tIns="0" lIns="0" bIns="0" rIns="0">
            <a:spAutoFit/>
          </a:bodyPr>
          <a:lstStyle/>
          <a:p>
            <a:pPr algn="l" marL="582606" indent="-291303" lvl="1">
              <a:lnSpc>
                <a:spcPts val="3238"/>
              </a:lnSpc>
              <a:buFont typeface="Arial"/>
              <a:buChar char="•"/>
            </a:pPr>
            <a:r>
              <a:rPr lang="en-US" sz="2698">
                <a:solidFill>
                  <a:srgbClr val="000000"/>
                </a:solidFill>
                <a:latin typeface="DM Sans"/>
                <a:ea typeface="DM Sans"/>
                <a:cs typeface="DM Sans"/>
                <a:sym typeface="DM Sans"/>
              </a:rPr>
              <a:t>Apache Kafka was used to stream healthcare data in real time.</a:t>
            </a:r>
          </a:p>
          <a:p>
            <a:pPr algn="l" marL="582606" indent="-291303" lvl="1">
              <a:lnSpc>
                <a:spcPts val="3238"/>
              </a:lnSpc>
              <a:buFont typeface="Arial"/>
              <a:buChar char="•"/>
            </a:pPr>
            <a:r>
              <a:rPr lang="en-US" sz="2698">
                <a:solidFill>
                  <a:srgbClr val="000000"/>
                </a:solidFill>
                <a:latin typeface="DM Sans"/>
                <a:ea typeface="DM Sans"/>
                <a:cs typeface="DM Sans"/>
                <a:sym typeface="DM Sans"/>
              </a:rPr>
              <a:t>A Kafka Producer sent healthcare records to the healthstream topic.</a:t>
            </a:r>
          </a:p>
          <a:p>
            <a:pPr algn="l" marL="582606" indent="-291303" lvl="1">
              <a:lnSpc>
                <a:spcPts val="3238"/>
              </a:lnSpc>
              <a:buFont typeface="Arial"/>
              <a:buChar char="•"/>
            </a:pPr>
            <a:r>
              <a:rPr lang="en-US" sz="2698">
                <a:solidFill>
                  <a:srgbClr val="000000"/>
                </a:solidFill>
                <a:latin typeface="DM Sans"/>
                <a:ea typeface="DM Sans"/>
                <a:cs typeface="DM Sans"/>
                <a:sym typeface="DM Sans"/>
              </a:rPr>
              <a:t>A Kafka Consumer received and processed the streamed data.</a:t>
            </a:r>
          </a:p>
          <a:p>
            <a:pPr algn="l" marL="582606" indent="-291303" lvl="1">
              <a:lnSpc>
                <a:spcPts val="3238"/>
              </a:lnSpc>
              <a:buFont typeface="Arial"/>
              <a:buChar char="•"/>
            </a:pPr>
            <a:r>
              <a:rPr lang="en-US" sz="2698">
                <a:solidFill>
                  <a:srgbClr val="000000"/>
                </a:solidFill>
                <a:latin typeface="DM Sans"/>
                <a:ea typeface="DM Sans"/>
                <a:cs typeface="DM Sans"/>
                <a:sym typeface="DM Sans"/>
              </a:rPr>
              <a:t>The processed records were stored in SQL Server.</a:t>
            </a:r>
          </a:p>
          <a:p>
            <a:pPr algn="l" marL="582606" indent="-291303" lvl="1">
              <a:lnSpc>
                <a:spcPts val="3238"/>
              </a:lnSpc>
              <a:buFont typeface="Arial"/>
              <a:buChar char="•"/>
            </a:pPr>
            <a:r>
              <a:rPr lang="en-US" sz="2698">
                <a:solidFill>
                  <a:srgbClr val="000000"/>
                </a:solidFill>
                <a:latin typeface="DM Sans"/>
                <a:ea typeface="DM Sans"/>
                <a:cs typeface="DM Sans"/>
                <a:sym typeface="DM Sans"/>
              </a:rPr>
              <a:t>The stored data was visualized using Power BI dashboards.</a:t>
            </a:r>
          </a:p>
          <a:p>
            <a:pPr algn="l" marL="582606" indent="-291303" lvl="1">
              <a:lnSpc>
                <a:spcPts val="3238"/>
              </a:lnSpc>
              <a:buFont typeface="Arial"/>
              <a:buChar char="•"/>
            </a:pPr>
            <a:r>
              <a:rPr lang="en-US" sz="2698">
                <a:solidFill>
                  <a:srgbClr val="000000"/>
                </a:solidFill>
                <a:latin typeface="DM Sans"/>
                <a:ea typeface="DM Sans"/>
                <a:cs typeface="DM Sans"/>
                <a:sym typeface="DM Sans"/>
              </a:rPr>
              <a:t>This setup simulated a real-time telemedicine monitoring system.</a:t>
            </a:r>
          </a:p>
          <a:p>
            <a:pPr algn="l">
              <a:lnSpc>
                <a:spcPts val="3238"/>
              </a:lnSpc>
            </a:pPr>
          </a:p>
          <a:p>
            <a:pPr algn="l">
              <a:lnSpc>
                <a:spcPts val="3238"/>
              </a:lnSpc>
            </a:pPr>
          </a:p>
          <a:p>
            <a:pPr algn="ctr">
              <a:lnSpc>
                <a:spcPts val="323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292805" y="-2024657"/>
            <a:ext cx="4347674" cy="4347674"/>
          </a:xfrm>
          <a:prstGeom prst="line">
            <a:avLst/>
          </a:prstGeom>
          <a:ln cap="flat" w="28575">
            <a:solidFill>
              <a:srgbClr val="8CA9AD"/>
            </a:solidFill>
            <a:prstDash val="solid"/>
            <a:headEnd type="none" len="sm" w="sm"/>
            <a:tailEnd type="none" len="sm" w="sm"/>
          </a:ln>
        </p:spPr>
      </p:sp>
      <p:sp>
        <p:nvSpPr>
          <p:cNvPr name="Freeform 3" id="3"/>
          <p:cNvSpPr/>
          <p:nvPr/>
        </p:nvSpPr>
        <p:spPr>
          <a:xfrm flipH="false" flipV="false" rot="0">
            <a:off x="1613038" y="3359467"/>
            <a:ext cx="7595452" cy="6242080"/>
          </a:xfrm>
          <a:custGeom>
            <a:avLst/>
            <a:gdLst/>
            <a:ahLst/>
            <a:cxnLst/>
            <a:rect r="r" b="b" t="t" l="l"/>
            <a:pathLst>
              <a:path h="6242080" w="7595452">
                <a:moveTo>
                  <a:pt x="0" y="0"/>
                </a:moveTo>
                <a:lnTo>
                  <a:pt x="7595451" y="0"/>
                </a:lnTo>
                <a:lnTo>
                  <a:pt x="7595451" y="6242080"/>
                </a:lnTo>
                <a:lnTo>
                  <a:pt x="0" y="62420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898788" y="1684358"/>
            <a:ext cx="16113860" cy="1425702"/>
          </a:xfrm>
          <a:prstGeom prst="rect">
            <a:avLst/>
          </a:prstGeom>
        </p:spPr>
        <p:txBody>
          <a:bodyPr anchor="t" rtlCol="false" tIns="0" lIns="0" bIns="0" rIns="0">
            <a:spAutoFit/>
          </a:bodyPr>
          <a:lstStyle/>
          <a:p>
            <a:pPr algn="l">
              <a:lnSpc>
                <a:spcPts val="5544"/>
              </a:lnSpc>
            </a:pPr>
            <a:r>
              <a:rPr lang="en-US" b="true" sz="5600">
                <a:solidFill>
                  <a:srgbClr val="01386A"/>
                </a:solidFill>
                <a:latin typeface="Montserrat Bold"/>
                <a:ea typeface="Montserrat Bold"/>
                <a:cs typeface="Montserrat Bold"/>
                <a:sym typeface="Montserrat Bold"/>
              </a:rPr>
              <a:t>POWER BI DASHBOARD &amp; PROJECT RESULTS</a:t>
            </a:r>
          </a:p>
        </p:txBody>
      </p:sp>
      <p:sp>
        <p:nvSpPr>
          <p:cNvPr name="TextBox 5" id="5"/>
          <p:cNvSpPr txBox="true"/>
          <p:nvPr/>
        </p:nvSpPr>
        <p:spPr>
          <a:xfrm rot="0">
            <a:off x="9639658" y="3846052"/>
            <a:ext cx="7619642" cy="2171700"/>
          </a:xfrm>
          <a:prstGeom prst="rect">
            <a:avLst/>
          </a:prstGeom>
        </p:spPr>
        <p:txBody>
          <a:bodyPr anchor="t" rtlCol="false" tIns="0" lIns="0" bIns="0" rIns="0">
            <a:spAutoFit/>
          </a:bodyPr>
          <a:lstStyle/>
          <a:p>
            <a:pPr algn="l" marL="518160" indent="-259080" lvl="1">
              <a:lnSpc>
                <a:spcPts val="2879"/>
              </a:lnSpc>
              <a:buFont typeface="Arial"/>
              <a:buChar char="•"/>
            </a:pPr>
            <a:r>
              <a:rPr lang="en-US" sz="2400">
                <a:solidFill>
                  <a:srgbClr val="545454"/>
                </a:solidFill>
                <a:latin typeface="DM Sans"/>
                <a:ea typeface="DM Sans"/>
                <a:cs typeface="DM Sans"/>
                <a:sym typeface="DM Sans"/>
              </a:rPr>
              <a:t>Total Patients</a:t>
            </a:r>
          </a:p>
          <a:p>
            <a:pPr algn="l" marL="518160" indent="-259080" lvl="1">
              <a:lnSpc>
                <a:spcPts val="2879"/>
              </a:lnSpc>
              <a:buFont typeface="Arial"/>
              <a:buChar char="•"/>
            </a:pPr>
            <a:r>
              <a:rPr lang="en-US" sz="2400">
                <a:solidFill>
                  <a:srgbClr val="545454"/>
                </a:solidFill>
                <a:latin typeface="DM Sans"/>
                <a:ea typeface="DM Sans"/>
                <a:cs typeface="DM Sans"/>
                <a:sym typeface="DM Sans"/>
              </a:rPr>
              <a:t>Heart Rate Analysis</a:t>
            </a:r>
          </a:p>
          <a:p>
            <a:pPr algn="l" marL="518160" indent="-259080" lvl="1">
              <a:lnSpc>
                <a:spcPts val="2879"/>
              </a:lnSpc>
              <a:buFont typeface="Arial"/>
              <a:buChar char="•"/>
            </a:pPr>
            <a:r>
              <a:rPr lang="en-US" sz="2400">
                <a:solidFill>
                  <a:srgbClr val="545454"/>
                </a:solidFill>
                <a:latin typeface="DM Sans"/>
                <a:ea typeface="DM Sans"/>
                <a:cs typeface="DM Sans"/>
                <a:sym typeface="DM Sans"/>
              </a:rPr>
              <a:t>Blood Pressure Trends</a:t>
            </a:r>
          </a:p>
          <a:p>
            <a:pPr algn="l" marL="518160" indent="-259080" lvl="1">
              <a:lnSpc>
                <a:spcPts val="2879"/>
              </a:lnSpc>
              <a:buFont typeface="Arial"/>
              <a:buChar char="•"/>
            </a:pPr>
            <a:r>
              <a:rPr lang="en-US" sz="2400">
                <a:solidFill>
                  <a:srgbClr val="545454"/>
                </a:solidFill>
                <a:latin typeface="DM Sans"/>
                <a:ea typeface="DM Sans"/>
                <a:cs typeface="DM Sans"/>
                <a:sym typeface="DM Sans"/>
              </a:rPr>
              <a:t>Health Status Distribution</a:t>
            </a:r>
          </a:p>
          <a:p>
            <a:pPr algn="l" marL="518160" indent="-259080" lvl="1">
              <a:lnSpc>
                <a:spcPts val="2879"/>
              </a:lnSpc>
              <a:buFont typeface="Arial"/>
              <a:buChar char="•"/>
            </a:pPr>
            <a:r>
              <a:rPr lang="en-US" sz="2400">
                <a:solidFill>
                  <a:srgbClr val="545454"/>
                </a:solidFill>
                <a:latin typeface="DM Sans"/>
                <a:ea typeface="DM Sans"/>
                <a:cs typeface="DM Sans"/>
                <a:sym typeface="DM Sans"/>
              </a:rPr>
              <a:t>Real-Time Insights</a:t>
            </a:r>
          </a:p>
          <a:p>
            <a:pPr algn="l">
              <a:lnSpc>
                <a:spcPts val="2879"/>
              </a:lnSpc>
            </a:pPr>
          </a:p>
        </p:txBody>
      </p:sp>
      <p:grpSp>
        <p:nvGrpSpPr>
          <p:cNvPr name="Group 6" id="6"/>
          <p:cNvGrpSpPr/>
          <p:nvPr/>
        </p:nvGrpSpPr>
        <p:grpSpPr>
          <a:xfrm rot="0">
            <a:off x="-1473062" y="0"/>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99D45"/>
            </a:solidFill>
          </p:spPr>
        </p:sp>
        <p:sp>
          <p:nvSpPr>
            <p:cNvPr name="TextBox 8" id="8"/>
            <p:cNvSpPr txBox="true"/>
            <p:nvPr/>
          </p:nvSpPr>
          <p:spPr>
            <a:xfrm>
              <a:off x="0" y="38100"/>
              <a:ext cx="812800" cy="774700"/>
            </a:xfrm>
            <a:prstGeom prst="rect">
              <a:avLst/>
            </a:prstGeom>
          </p:spPr>
          <p:txBody>
            <a:bodyPr anchor="ctr" rtlCol="false" tIns="50800" lIns="50800" bIns="50800" rIns="50800"/>
            <a:lstStyle/>
            <a:p>
              <a:pPr algn="ctr">
                <a:lnSpc>
                  <a:spcPts val="2100"/>
                </a:lnSpc>
              </a:pPr>
            </a:p>
          </p:txBody>
        </p:sp>
      </p:grpSp>
      <p:grpSp>
        <p:nvGrpSpPr>
          <p:cNvPr name="Group 9" id="9"/>
          <p:cNvGrpSpPr/>
          <p:nvPr/>
        </p:nvGrpSpPr>
        <p:grpSpPr>
          <a:xfrm rot="0">
            <a:off x="14819721" y="8743950"/>
            <a:ext cx="3468279" cy="3086100"/>
            <a:chOff x="0" y="0"/>
            <a:chExt cx="913456" cy="812800"/>
          </a:xfrm>
        </p:grpSpPr>
        <p:sp>
          <p:nvSpPr>
            <p:cNvPr name="Freeform 10" id="10"/>
            <p:cNvSpPr/>
            <p:nvPr/>
          </p:nvSpPr>
          <p:spPr>
            <a:xfrm flipH="false" flipV="false" rot="0">
              <a:off x="0" y="0"/>
              <a:ext cx="913456" cy="812800"/>
            </a:xfrm>
            <a:custGeom>
              <a:avLst/>
              <a:gdLst/>
              <a:ahLst/>
              <a:cxnLst/>
              <a:rect r="r" b="b" t="t" l="l"/>
              <a:pathLst>
                <a:path h="812800" w="913456">
                  <a:moveTo>
                    <a:pt x="0" y="0"/>
                  </a:moveTo>
                  <a:lnTo>
                    <a:pt x="913456" y="0"/>
                  </a:lnTo>
                  <a:lnTo>
                    <a:pt x="913456" y="812800"/>
                  </a:lnTo>
                  <a:lnTo>
                    <a:pt x="0" y="812800"/>
                  </a:lnTo>
                  <a:close/>
                </a:path>
              </a:pathLst>
            </a:custGeom>
            <a:solidFill>
              <a:srgbClr val="F99D45"/>
            </a:solidFill>
          </p:spPr>
        </p:sp>
        <p:sp>
          <p:nvSpPr>
            <p:cNvPr name="TextBox 11" id="11"/>
            <p:cNvSpPr txBox="true"/>
            <p:nvPr/>
          </p:nvSpPr>
          <p:spPr>
            <a:xfrm>
              <a:off x="0" y="38100"/>
              <a:ext cx="913456" cy="774700"/>
            </a:xfrm>
            <a:prstGeom prst="rect">
              <a:avLst/>
            </a:prstGeom>
          </p:spPr>
          <p:txBody>
            <a:bodyPr anchor="ctr" rtlCol="false" tIns="50800" lIns="50800" bIns="50800" rIns="50800"/>
            <a:lstStyle/>
            <a:p>
              <a:pPr algn="ctr">
                <a:lnSpc>
                  <a:spcPts val="2100"/>
                </a:lnSpc>
              </a:pPr>
            </a:p>
          </p:txBody>
        </p:sp>
      </p:grpSp>
      <p:grpSp>
        <p:nvGrpSpPr>
          <p:cNvPr name="Group 12" id="12"/>
          <p:cNvGrpSpPr/>
          <p:nvPr/>
        </p:nvGrpSpPr>
        <p:grpSpPr>
          <a:xfrm rot="0">
            <a:off x="14977291" y="8743950"/>
            <a:ext cx="3468279" cy="3086100"/>
            <a:chOff x="0" y="0"/>
            <a:chExt cx="913456" cy="812800"/>
          </a:xfrm>
        </p:grpSpPr>
        <p:sp>
          <p:nvSpPr>
            <p:cNvPr name="Freeform 13" id="13"/>
            <p:cNvSpPr/>
            <p:nvPr/>
          </p:nvSpPr>
          <p:spPr>
            <a:xfrm flipH="false" flipV="false" rot="0">
              <a:off x="0" y="0"/>
              <a:ext cx="913456" cy="812800"/>
            </a:xfrm>
            <a:custGeom>
              <a:avLst/>
              <a:gdLst/>
              <a:ahLst/>
              <a:cxnLst/>
              <a:rect r="r" b="b" t="t" l="l"/>
              <a:pathLst>
                <a:path h="812800" w="913456">
                  <a:moveTo>
                    <a:pt x="0" y="0"/>
                  </a:moveTo>
                  <a:lnTo>
                    <a:pt x="913456" y="0"/>
                  </a:lnTo>
                  <a:lnTo>
                    <a:pt x="913456" y="812800"/>
                  </a:lnTo>
                  <a:lnTo>
                    <a:pt x="0" y="812800"/>
                  </a:lnTo>
                  <a:close/>
                </a:path>
              </a:pathLst>
            </a:custGeom>
            <a:solidFill>
              <a:srgbClr val="F99D45"/>
            </a:solidFill>
          </p:spPr>
        </p:sp>
        <p:sp>
          <p:nvSpPr>
            <p:cNvPr name="TextBox 14" id="14"/>
            <p:cNvSpPr txBox="true"/>
            <p:nvPr/>
          </p:nvSpPr>
          <p:spPr>
            <a:xfrm>
              <a:off x="0" y="38100"/>
              <a:ext cx="913456" cy="774700"/>
            </a:xfrm>
            <a:prstGeom prst="rect">
              <a:avLst/>
            </a:prstGeom>
          </p:spPr>
          <p:txBody>
            <a:bodyPr anchor="ctr" rtlCol="false" tIns="50800" lIns="50800" bIns="50800" rIns="50800"/>
            <a:lstStyle/>
            <a:p>
              <a:pPr algn="ctr">
                <a:lnSpc>
                  <a:spcPts val="2100"/>
                </a:lnSpc>
              </a:pPr>
            </a:p>
          </p:txBody>
        </p:sp>
      </p:grpSp>
      <p:grpSp>
        <p:nvGrpSpPr>
          <p:cNvPr name="Group 15" id="15"/>
          <p:cNvGrpSpPr/>
          <p:nvPr/>
        </p:nvGrpSpPr>
        <p:grpSpPr>
          <a:xfrm rot="0">
            <a:off x="14977291" y="8743950"/>
            <a:ext cx="3468279" cy="3086100"/>
            <a:chOff x="0" y="0"/>
            <a:chExt cx="913456" cy="812800"/>
          </a:xfrm>
        </p:grpSpPr>
        <p:sp>
          <p:nvSpPr>
            <p:cNvPr name="Freeform 16" id="16"/>
            <p:cNvSpPr/>
            <p:nvPr/>
          </p:nvSpPr>
          <p:spPr>
            <a:xfrm flipH="false" flipV="false" rot="0">
              <a:off x="0" y="0"/>
              <a:ext cx="913456" cy="812800"/>
            </a:xfrm>
            <a:custGeom>
              <a:avLst/>
              <a:gdLst/>
              <a:ahLst/>
              <a:cxnLst/>
              <a:rect r="r" b="b" t="t" l="l"/>
              <a:pathLst>
                <a:path h="812800" w="913456">
                  <a:moveTo>
                    <a:pt x="0" y="0"/>
                  </a:moveTo>
                  <a:lnTo>
                    <a:pt x="913456" y="0"/>
                  </a:lnTo>
                  <a:lnTo>
                    <a:pt x="913456" y="812800"/>
                  </a:lnTo>
                  <a:lnTo>
                    <a:pt x="0" y="812800"/>
                  </a:lnTo>
                  <a:close/>
                </a:path>
              </a:pathLst>
            </a:custGeom>
            <a:solidFill>
              <a:srgbClr val="F99D45"/>
            </a:solidFill>
          </p:spPr>
        </p:sp>
        <p:sp>
          <p:nvSpPr>
            <p:cNvPr name="TextBox 17" id="17"/>
            <p:cNvSpPr txBox="true"/>
            <p:nvPr/>
          </p:nvSpPr>
          <p:spPr>
            <a:xfrm>
              <a:off x="0" y="38100"/>
              <a:ext cx="913456" cy="774700"/>
            </a:xfrm>
            <a:prstGeom prst="rect">
              <a:avLst/>
            </a:prstGeom>
          </p:spPr>
          <p:txBody>
            <a:bodyPr anchor="ctr" rtlCol="false" tIns="50800" lIns="50800" bIns="50800" rIns="50800"/>
            <a:lstStyle/>
            <a:p>
              <a:pPr algn="ctr">
                <a:lnSpc>
                  <a:spcPts val="2100"/>
                </a:lnSpc>
              </a:pPr>
            </a:p>
          </p:txBody>
        </p:sp>
      </p:grpSp>
      <p:grpSp>
        <p:nvGrpSpPr>
          <p:cNvPr name="Group 18" id="18"/>
          <p:cNvGrpSpPr/>
          <p:nvPr/>
        </p:nvGrpSpPr>
        <p:grpSpPr>
          <a:xfrm rot="0">
            <a:off x="13449479" y="9138792"/>
            <a:ext cx="3468279" cy="3086100"/>
            <a:chOff x="0" y="0"/>
            <a:chExt cx="913456" cy="812800"/>
          </a:xfrm>
        </p:grpSpPr>
        <p:sp>
          <p:nvSpPr>
            <p:cNvPr name="Freeform 19" id="19"/>
            <p:cNvSpPr/>
            <p:nvPr/>
          </p:nvSpPr>
          <p:spPr>
            <a:xfrm flipH="false" flipV="false" rot="0">
              <a:off x="0" y="0"/>
              <a:ext cx="913456" cy="812800"/>
            </a:xfrm>
            <a:custGeom>
              <a:avLst/>
              <a:gdLst/>
              <a:ahLst/>
              <a:cxnLst/>
              <a:rect r="r" b="b" t="t" l="l"/>
              <a:pathLst>
                <a:path h="812800" w="913456">
                  <a:moveTo>
                    <a:pt x="0" y="0"/>
                  </a:moveTo>
                  <a:lnTo>
                    <a:pt x="913456" y="0"/>
                  </a:lnTo>
                  <a:lnTo>
                    <a:pt x="913456" y="812800"/>
                  </a:lnTo>
                  <a:lnTo>
                    <a:pt x="0" y="812800"/>
                  </a:lnTo>
                  <a:close/>
                </a:path>
              </a:pathLst>
            </a:custGeom>
            <a:solidFill>
              <a:srgbClr val="F9D845"/>
            </a:solidFill>
          </p:spPr>
        </p:sp>
        <p:sp>
          <p:nvSpPr>
            <p:cNvPr name="TextBox 20" id="20"/>
            <p:cNvSpPr txBox="true"/>
            <p:nvPr/>
          </p:nvSpPr>
          <p:spPr>
            <a:xfrm>
              <a:off x="0" y="38100"/>
              <a:ext cx="913456" cy="774700"/>
            </a:xfrm>
            <a:prstGeom prst="rect">
              <a:avLst/>
            </a:prstGeom>
          </p:spPr>
          <p:txBody>
            <a:bodyPr anchor="ctr" rtlCol="false" tIns="50800" lIns="50800" bIns="50800" rIns="50800"/>
            <a:lstStyle/>
            <a:p>
              <a:pPr algn="ctr">
                <a:lnSpc>
                  <a:spcPts val="2100"/>
                </a:lnSpc>
              </a:pPr>
            </a:p>
          </p:txBody>
        </p:sp>
      </p:grpSp>
      <p:sp>
        <p:nvSpPr>
          <p:cNvPr name="TextBox 21" id="21"/>
          <p:cNvSpPr txBox="true"/>
          <p:nvPr/>
        </p:nvSpPr>
        <p:spPr>
          <a:xfrm rot="0">
            <a:off x="8123660" y="3019425"/>
            <a:ext cx="7619642" cy="613409"/>
          </a:xfrm>
          <a:prstGeom prst="rect">
            <a:avLst/>
          </a:prstGeom>
        </p:spPr>
        <p:txBody>
          <a:bodyPr anchor="t" rtlCol="false" tIns="0" lIns="0" bIns="0" rIns="0">
            <a:spAutoFit/>
          </a:bodyPr>
          <a:lstStyle/>
          <a:p>
            <a:pPr algn="ctr">
              <a:lnSpc>
                <a:spcPts val="5040"/>
              </a:lnSpc>
            </a:pPr>
            <a:r>
              <a:rPr lang="en-US" sz="3600" b="true">
                <a:solidFill>
                  <a:srgbClr val="000000"/>
                </a:solidFill>
                <a:latin typeface="Canva Sans Bold"/>
                <a:ea typeface="Canva Sans Bold"/>
                <a:cs typeface="Canva Sans Bold"/>
                <a:sym typeface="Canva Sans Bold"/>
              </a:rPr>
              <a:t>Power</a:t>
            </a:r>
            <a:r>
              <a:rPr lang="en-US" b="true" sz="3600">
                <a:solidFill>
                  <a:srgbClr val="000000"/>
                </a:solidFill>
                <a:latin typeface="Canva Sans Bold"/>
                <a:ea typeface="Canva Sans Bold"/>
                <a:cs typeface="Canva Sans Bold"/>
                <a:sym typeface="Canva Sans Bold"/>
              </a:rPr>
              <a:t> BI Dashboard</a:t>
            </a:r>
          </a:p>
        </p:txBody>
      </p:sp>
      <p:sp>
        <p:nvSpPr>
          <p:cNvPr name="TextBox 22" id="22"/>
          <p:cNvSpPr txBox="true"/>
          <p:nvPr/>
        </p:nvSpPr>
        <p:spPr>
          <a:xfrm rot="0">
            <a:off x="9639658" y="6854372"/>
            <a:ext cx="4184303" cy="1447800"/>
          </a:xfrm>
          <a:prstGeom prst="rect">
            <a:avLst/>
          </a:prstGeom>
        </p:spPr>
        <p:txBody>
          <a:bodyPr anchor="t" rtlCol="false" tIns="0" lIns="0" bIns="0" rIns="0">
            <a:spAutoFit/>
          </a:bodyPr>
          <a:lstStyle/>
          <a:p>
            <a:pPr algn="l" marL="518160" indent="-259080" lvl="1">
              <a:lnSpc>
                <a:spcPts val="2879"/>
              </a:lnSpc>
              <a:spcBef>
                <a:spcPct val="0"/>
              </a:spcBef>
              <a:buFont typeface="Arial"/>
              <a:buChar char="•"/>
            </a:pPr>
            <a:r>
              <a:rPr lang="en-US" sz="2400">
                <a:solidFill>
                  <a:srgbClr val="000000"/>
                </a:solidFill>
                <a:latin typeface="DM Sans"/>
                <a:ea typeface="DM Sans"/>
                <a:cs typeface="DM Sans"/>
                <a:sym typeface="DM Sans"/>
              </a:rPr>
              <a:t>Kafka c</a:t>
            </a:r>
            <a:r>
              <a:rPr lang="en-US" sz="2400">
                <a:solidFill>
                  <a:srgbClr val="000000"/>
                </a:solidFill>
                <a:latin typeface="DM Sans"/>
                <a:ea typeface="DM Sans"/>
                <a:cs typeface="DM Sans"/>
                <a:sym typeface="DM Sans"/>
              </a:rPr>
              <a:t>onfiguration issues</a:t>
            </a:r>
          </a:p>
          <a:p>
            <a:pPr algn="l" marL="518160" indent="-259080" lvl="1">
              <a:lnSpc>
                <a:spcPts val="2879"/>
              </a:lnSpc>
              <a:spcBef>
                <a:spcPct val="0"/>
              </a:spcBef>
              <a:buFont typeface="Arial"/>
              <a:buChar char="•"/>
            </a:pPr>
            <a:r>
              <a:rPr lang="en-US" sz="2400">
                <a:solidFill>
                  <a:srgbClr val="000000"/>
                </a:solidFill>
                <a:latin typeface="DM Sans"/>
                <a:ea typeface="DM Sans"/>
                <a:cs typeface="DM Sans"/>
                <a:sym typeface="DM Sans"/>
              </a:rPr>
              <a:t>SQL Server integration</a:t>
            </a:r>
          </a:p>
          <a:p>
            <a:pPr algn="l" marL="518160" indent="-259080" lvl="1">
              <a:lnSpc>
                <a:spcPts val="2879"/>
              </a:lnSpc>
              <a:spcBef>
                <a:spcPct val="0"/>
              </a:spcBef>
              <a:buFont typeface="Arial"/>
              <a:buChar char="•"/>
            </a:pPr>
            <a:r>
              <a:rPr lang="en-US" sz="2400">
                <a:solidFill>
                  <a:srgbClr val="000000"/>
                </a:solidFill>
                <a:latin typeface="DM Sans"/>
                <a:ea typeface="DM Sans"/>
                <a:cs typeface="DM Sans"/>
                <a:sym typeface="DM Sans"/>
              </a:rPr>
              <a:t>Real-time synchronization</a:t>
            </a:r>
          </a:p>
          <a:p>
            <a:pPr algn="l">
              <a:lnSpc>
                <a:spcPts val="287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710979" y="2855278"/>
            <a:ext cx="12866041" cy="2340616"/>
          </a:xfrm>
          <a:prstGeom prst="rect">
            <a:avLst/>
          </a:prstGeom>
        </p:spPr>
        <p:txBody>
          <a:bodyPr anchor="t" rtlCol="false" tIns="0" lIns="0" bIns="0" rIns="0">
            <a:spAutoFit/>
          </a:bodyPr>
          <a:lstStyle/>
          <a:p>
            <a:pPr algn="ctr">
              <a:lnSpc>
                <a:spcPts val="7800"/>
              </a:lnSpc>
            </a:pPr>
            <a:r>
              <a:rPr lang="en-US" b="true" sz="7800">
                <a:solidFill>
                  <a:srgbClr val="01386A"/>
                </a:solidFill>
                <a:latin typeface="Montserrat Bold"/>
                <a:ea typeface="Montserrat Bold"/>
                <a:cs typeface="Montserrat Bold"/>
                <a:sym typeface="Montserrat Bold"/>
              </a:rPr>
              <a:t>CONCLUSION</a:t>
            </a:r>
          </a:p>
          <a:p>
            <a:pPr algn="ctr">
              <a:lnSpc>
                <a:spcPts val="9999"/>
              </a:lnSpc>
            </a:pPr>
          </a:p>
        </p:txBody>
      </p:sp>
      <p:sp>
        <p:nvSpPr>
          <p:cNvPr name="TextBox 3" id="3"/>
          <p:cNvSpPr txBox="true"/>
          <p:nvPr/>
        </p:nvSpPr>
        <p:spPr>
          <a:xfrm rot="0">
            <a:off x="2168470" y="4347051"/>
            <a:ext cx="14299247" cy="2971800"/>
          </a:xfrm>
          <a:prstGeom prst="rect">
            <a:avLst/>
          </a:prstGeom>
        </p:spPr>
        <p:txBody>
          <a:bodyPr anchor="t" rtlCol="false" tIns="0" lIns="0" bIns="0" rIns="0">
            <a:spAutoFit/>
          </a:bodyPr>
          <a:lstStyle/>
          <a:p>
            <a:pPr algn="ctr">
              <a:lnSpc>
                <a:spcPts val="3959"/>
              </a:lnSpc>
            </a:pPr>
            <a:r>
              <a:rPr lang="en-US" sz="3299">
                <a:solidFill>
                  <a:srgbClr val="545454"/>
                </a:solidFill>
                <a:latin typeface="DM Sans"/>
                <a:ea typeface="DM Sans"/>
                <a:cs typeface="DM Sans"/>
                <a:sym typeface="DM Sans"/>
              </a:rPr>
              <a:t>This project demonstrates how real-time data engineering can transform healthcare by enabling continuous patient monitoring, instant data processing, and actionable insights. By leveraging Apache Kafka, SQL Server, Streamlit, and Power BI, the system provides a scalable foundation for next-generation smart healthcare and telemedicine solutions.</a:t>
            </a:r>
          </a:p>
          <a:p>
            <a:pPr algn="ctr">
              <a:lnSpc>
                <a:spcPts val="3959"/>
              </a:lnSpc>
            </a:pPr>
          </a:p>
        </p:txBody>
      </p:sp>
      <p:sp>
        <p:nvSpPr>
          <p:cNvPr name="Freeform 4" id="4"/>
          <p:cNvSpPr/>
          <p:nvPr/>
        </p:nvSpPr>
        <p:spPr>
          <a:xfrm flipH="false" flipV="false" rot="5400000">
            <a:off x="14177486" y="-4286"/>
            <a:ext cx="4106228" cy="4114800"/>
          </a:xfrm>
          <a:custGeom>
            <a:avLst/>
            <a:gdLst/>
            <a:ahLst/>
            <a:cxnLst/>
            <a:rect r="r" b="b" t="t" l="l"/>
            <a:pathLst>
              <a:path h="4114800" w="4106228">
                <a:moveTo>
                  <a:pt x="0" y="0"/>
                </a:moveTo>
                <a:lnTo>
                  <a:pt x="4106228" y="0"/>
                </a:lnTo>
                <a:lnTo>
                  <a:pt x="410622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0" y="6172200"/>
            <a:ext cx="3543872" cy="4114800"/>
          </a:xfrm>
          <a:custGeom>
            <a:avLst/>
            <a:gdLst/>
            <a:ahLst/>
            <a:cxnLst/>
            <a:rect r="r" b="b" t="t" l="l"/>
            <a:pathLst>
              <a:path h="4114800" w="3543872">
                <a:moveTo>
                  <a:pt x="0" y="0"/>
                </a:moveTo>
                <a:lnTo>
                  <a:pt x="3543872" y="0"/>
                </a:lnTo>
                <a:lnTo>
                  <a:pt x="354387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484236"/>
            <a:ext cx="9011810" cy="544464"/>
          </a:xfrm>
          <a:custGeom>
            <a:avLst/>
            <a:gdLst/>
            <a:ahLst/>
            <a:cxnLst/>
            <a:rect r="r" b="b" t="t" l="l"/>
            <a:pathLst>
              <a:path h="544464" w="9011810">
                <a:moveTo>
                  <a:pt x="0" y="0"/>
                </a:moveTo>
                <a:lnTo>
                  <a:pt x="9011810" y="0"/>
                </a:lnTo>
                <a:lnTo>
                  <a:pt x="9011810" y="544464"/>
                </a:lnTo>
                <a:lnTo>
                  <a:pt x="0" y="5444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4611958">
            <a:off x="15396473" y="7658553"/>
            <a:ext cx="2457677" cy="2841245"/>
          </a:xfrm>
          <a:custGeom>
            <a:avLst/>
            <a:gdLst/>
            <a:ahLst/>
            <a:cxnLst/>
            <a:rect r="r" b="b" t="t" l="l"/>
            <a:pathLst>
              <a:path h="2841245" w="2457677">
                <a:moveTo>
                  <a:pt x="0" y="0"/>
                </a:moveTo>
                <a:lnTo>
                  <a:pt x="2457676" y="0"/>
                </a:lnTo>
                <a:lnTo>
                  <a:pt x="2457676" y="2841245"/>
                </a:lnTo>
                <a:lnTo>
                  <a:pt x="0" y="2841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33915" y="4208460"/>
            <a:ext cx="10620170" cy="1638934"/>
          </a:xfrm>
          <a:prstGeom prst="rect">
            <a:avLst/>
          </a:prstGeom>
        </p:spPr>
        <p:txBody>
          <a:bodyPr anchor="t" rtlCol="false" tIns="0" lIns="0" bIns="0" rIns="0">
            <a:spAutoFit/>
          </a:bodyPr>
          <a:lstStyle/>
          <a:p>
            <a:pPr algn="ctr">
              <a:lnSpc>
                <a:spcPts val="12399"/>
              </a:lnSpc>
            </a:pPr>
            <a:r>
              <a:rPr lang="en-US" b="true" sz="12399">
                <a:solidFill>
                  <a:srgbClr val="01386A"/>
                </a:solidFill>
                <a:latin typeface="Montserrat Bold"/>
                <a:ea typeface="Montserrat Bold"/>
                <a:cs typeface="Montserrat Bold"/>
                <a:sym typeface="Montserrat Bold"/>
              </a:rPr>
              <a:t>THANK YOU</a:t>
            </a:r>
          </a:p>
        </p:txBody>
      </p:sp>
      <p:sp>
        <p:nvSpPr>
          <p:cNvPr name="Freeform 3" id="3"/>
          <p:cNvSpPr/>
          <p:nvPr/>
        </p:nvSpPr>
        <p:spPr>
          <a:xfrm flipH="false" flipV="false" rot="0">
            <a:off x="6004548" y="6644568"/>
            <a:ext cx="5931354" cy="358353"/>
          </a:xfrm>
          <a:custGeom>
            <a:avLst/>
            <a:gdLst/>
            <a:ahLst/>
            <a:cxnLst/>
            <a:rect r="r" b="b" t="t" l="l"/>
            <a:pathLst>
              <a:path h="358353" w="5931354">
                <a:moveTo>
                  <a:pt x="0" y="0"/>
                </a:moveTo>
                <a:lnTo>
                  <a:pt x="5931354" y="0"/>
                </a:lnTo>
                <a:lnTo>
                  <a:pt x="5931354" y="358352"/>
                </a:lnTo>
                <a:lnTo>
                  <a:pt x="0" y="3583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0617" y="-16987"/>
            <a:ext cx="4106228" cy="4114800"/>
          </a:xfrm>
          <a:custGeom>
            <a:avLst/>
            <a:gdLst/>
            <a:ahLst/>
            <a:cxnLst/>
            <a:rect r="r" b="b" t="t" l="l"/>
            <a:pathLst>
              <a:path h="4114800" w="4106228">
                <a:moveTo>
                  <a:pt x="0" y="0"/>
                </a:moveTo>
                <a:lnTo>
                  <a:pt x="4106227" y="0"/>
                </a:lnTo>
                <a:lnTo>
                  <a:pt x="410622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381438" y="6304600"/>
            <a:ext cx="5297854" cy="5271365"/>
          </a:xfrm>
          <a:custGeom>
            <a:avLst/>
            <a:gdLst/>
            <a:ahLst/>
            <a:cxnLst/>
            <a:rect r="r" b="b" t="t" l="l"/>
            <a:pathLst>
              <a:path h="5271365" w="5297854">
                <a:moveTo>
                  <a:pt x="0" y="0"/>
                </a:moveTo>
                <a:lnTo>
                  <a:pt x="5297854" y="0"/>
                </a:lnTo>
                <a:lnTo>
                  <a:pt x="5297854" y="5271365"/>
                </a:lnTo>
                <a:lnTo>
                  <a:pt x="0" y="52713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7481C807B5EAB428F84ADB22C5947BB" ma:contentTypeVersion="3" ma:contentTypeDescription="Ein neues Dokument erstellen." ma:contentTypeScope="" ma:versionID="fe8ca595b2df28eb9ddbbe16445119e9">
  <xsd:schema xmlns:xsd="http://www.w3.org/2001/XMLSchema" xmlns:xs="http://www.w3.org/2001/XMLSchema" xmlns:p="http://schemas.microsoft.com/office/2006/metadata/properties" xmlns:ns2="78271cce-ea6b-47fe-971a-d1d58f0d81bc" targetNamespace="http://schemas.microsoft.com/office/2006/metadata/properties" ma:root="true" ma:fieldsID="32c0c60bf7ba2d9ffe73c026645578f0" ns2:_="">
    <xsd:import namespace="78271cce-ea6b-47fe-971a-d1d58f0d81b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271cce-ea6b-47fe-971a-d1d58f0d81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891A47F-8F10-430A-87C6-BA4531150688}"/>
</file>

<file path=customXml/itemProps2.xml><?xml version="1.0" encoding="utf-8"?>
<ds:datastoreItem xmlns:ds="http://schemas.openxmlformats.org/officeDocument/2006/customXml" ds:itemID="{089CA874-348D-4727-B2C9-01710EB48F10}"/>
</file>

<file path=customXml/itemProps3.xml><?xml version="1.0" encoding="utf-8"?>
<ds:datastoreItem xmlns:ds="http://schemas.openxmlformats.org/officeDocument/2006/customXml" ds:itemID="{2A026C33-3616-4F2D-A8E3-01E03EBE91E8}"/>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cp:revision>1</cp:revision>
  <dcterms:created xsi:type="dcterms:W3CDTF">2006-08-16T00:00:00Z</dcterms:created>
  <dcterms:modified xsi:type="dcterms:W3CDTF">2011-08-01T06:04:30Z</dcterms:modified>
  <dc:identifier>DAHK8aNaug0</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0x01010017481C807B5EAB428F84ADB22C5947BB</vt:lpwstr>
  </property>
</Properties>
</file>